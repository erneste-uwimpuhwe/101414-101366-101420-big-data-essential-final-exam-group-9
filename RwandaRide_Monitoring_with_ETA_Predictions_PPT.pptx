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64" d="100"/>
          <a:sy n="64" d="100"/>
        </p:scale>
        <p:origin x="656"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16944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one-sentence framing on slide 2. Do not read the tech list aloud - they can see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Memorise the quoted sentence. It answers all three things the guidelines demand.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fan-out. Then mention that the HDFS sink died for 12 hours while the database sink kept working - that is the fan-out proving itself.</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watch_growth.cmd running on screen if possible - numbers moving is more persuasive than the slide.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switch to the browser and POST two records live through the DRF form.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two consumer windows, kafka-consumer-groups --describe, Ctrl+C one, show PARTITIONS REVOKED then ASSIGNED [0,1,2].</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NameNode UI at :9870. Be honest that one DataNode means blocks are under-replicated.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Insight 3 - demand near-uniform across zones - is a negative result, reported as one: the generator samples zones uniformly. Its reading is that dispatch gains come from timing, not geography.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Trained on 58,048 rows, tested on 14,316 never seen. Feature importance: distance 0.60 - physics dominating is a sanity check passed.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accuracy is not higher, go to the noise-floor argument on the previous slide.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live board, then the admin at :8080. Explain managed = False - Django reads, Connect and Spark own the writes.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CONCLUSION — what to say.</a:t>
            </a:r>
          </a:p>
          <a:p>
            <a:endParaRPr dirty="0"/>
          </a:p>
          <a:p>
            <a:r>
              <a:rPr dirty="0"/>
              <a:t>The system ingests ride-hailing trip events continuously, carries them through Kafka with a partitioning strategy we can justify and offsets we manage explicitly, lands them automatically in both an operational store and a replicated columnar historical store, processes that history at scale with PySpark, trains and deploys a Spark MLlib model that predicts trip duration to within roughly two minutes, and surfaces all of it on a live dashboard. Over 2.39 million events passed through it end to end.</a:t>
            </a:r>
          </a:p>
          <a:p>
            <a:endParaRPr dirty="0"/>
          </a:p>
          <a:p>
            <a:r>
              <a:rPr dirty="0"/>
              <a:t>Three findings. Congestion more than doubles travel time per </a:t>
            </a:r>
            <a:r>
              <a:rPr dirty="0" err="1"/>
              <a:t>kilometre</a:t>
            </a:r>
            <a:r>
              <a:rPr dirty="0"/>
              <a:t>, from 2.346 to 5.146 minutes per km. Gradient boosting cut prediction error by 67.8% against a linear baseline, because the underlying relationship is multiplicative and trees capture interactions additive models cannot. And the model's accuracy sits close to a theoretical floor set by noise we built into the data deliberately — which is the only reason we can say the result is good rather than merely low.</a:t>
            </a:r>
          </a:p>
          <a:p>
            <a:endParaRPr dirty="0"/>
          </a:p>
          <a:p>
            <a:r>
              <a:rPr dirty="0"/>
              <a:t>We state the limitations rather than hide them: one broker at replication factor 1, a single DataNode, deliberately small files, a 20% training sample, and synthetic data.</a:t>
            </a:r>
          </a:p>
          <a:p>
            <a:endParaRPr dirty="0"/>
          </a:p>
          <a:p>
            <a:r>
              <a:rPr dirty="0"/>
              <a:t>Close on the dark panel: the most instructive parts were the failures, and the one bug that produced a plausible chart that was entirely wrong.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2101743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833"/>
        </a:solidFill>
        <a:effectLst/>
      </p:bgPr>
    </p:bg>
    <p:spTree>
      <p:nvGrpSpPr>
        <p:cNvPr id="1" name=""/>
        <p:cNvGrpSpPr/>
        <p:nvPr/>
      </p:nvGrpSpPr>
      <p:grpSpPr>
        <a:xfrm>
          <a:off x="0" y="0"/>
          <a:ext cx="0" cy="0"/>
          <a:chOff x="0" y="0"/>
          <a:chExt cx="0" cy="0"/>
        </a:xfrm>
      </p:grpSpPr>
      <p:pic>
        <p:nvPicPr>
          <p:cNvPr id="2" name="Image 0" descr="aauc-logo.png"/>
          <p:cNvPicPr>
            <a:picLocks noChangeAspect="1"/>
          </p:cNvPicPr>
          <p:nvPr/>
        </p:nvPicPr>
        <p:blipFill>
          <a:blip r:embed="rId3"/>
          <a:stretch>
            <a:fillRect/>
          </a:stretch>
        </p:blipFill>
        <p:spPr>
          <a:xfrm>
            <a:off x="10306878" y="315469"/>
            <a:ext cx="1490870" cy="1170432"/>
          </a:xfrm>
          <a:prstGeom prst="rect">
            <a:avLst/>
          </a:prstGeom>
        </p:spPr>
      </p:pic>
      <p:sp>
        <p:nvSpPr>
          <p:cNvPr id="3" name="Text 0"/>
          <p:cNvSpPr txBox="1"/>
          <p:nvPr/>
        </p:nvSpPr>
        <p:spPr>
          <a:xfrm>
            <a:off x="777240" y="1691640"/>
            <a:ext cx="9144000" cy="77724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RwandaRide</a:t>
            </a:r>
            <a:endParaRPr lang="en-US" sz="4400" dirty="0"/>
          </a:p>
        </p:txBody>
      </p:sp>
      <p:sp>
        <p:nvSpPr>
          <p:cNvPr id="4" name="Text 1"/>
          <p:cNvSpPr txBox="1"/>
          <p:nvPr/>
        </p:nvSpPr>
        <p:spPr>
          <a:xfrm>
            <a:off x="777240" y="2536863"/>
            <a:ext cx="10515600" cy="457200"/>
          </a:xfrm>
          <a:prstGeom prst="rect">
            <a:avLst/>
          </a:prstGeom>
          <a:noFill/>
          <a:ln/>
        </p:spPr>
        <p:txBody>
          <a:bodyPr wrap="square" lIns="0" tIns="0" rIns="0" bIns="0" rtlCol="0" anchor="ctr"/>
          <a:lstStyle/>
          <a:p>
            <a:pPr marL="0" indent="0">
              <a:buNone/>
            </a:pPr>
            <a:r>
              <a:rPr lang="en-US" sz="2500" dirty="0">
                <a:solidFill>
                  <a:srgbClr val="FFFFFF"/>
                </a:solidFill>
                <a:latin typeface="Cambria" pitchFamily="34" charset="0"/>
                <a:ea typeface="Cambria" pitchFamily="34" charset="-122"/>
                <a:cs typeface="Cambria" pitchFamily="34" charset="-120"/>
              </a:rPr>
              <a:t>A Real-Time </a:t>
            </a:r>
            <a:r>
              <a:rPr lang="en-US" sz="2500" dirty="0" smtClean="0">
                <a:solidFill>
                  <a:srgbClr val="FFFFFF"/>
                </a:solidFill>
                <a:latin typeface="Cambria" pitchFamily="34" charset="0"/>
                <a:ea typeface="Cambria" pitchFamily="34" charset="-122"/>
                <a:cs typeface="Cambria" pitchFamily="34" charset="-120"/>
              </a:rPr>
              <a:t>Ride-Monitoring </a:t>
            </a:r>
            <a:r>
              <a:rPr lang="en-US" sz="2500" dirty="0">
                <a:solidFill>
                  <a:srgbClr val="FFFFFF"/>
                </a:solidFill>
                <a:latin typeface="Cambria" pitchFamily="34" charset="0"/>
                <a:ea typeface="Cambria" pitchFamily="34" charset="-122"/>
                <a:cs typeface="Cambria" pitchFamily="34" charset="-120"/>
              </a:rPr>
              <a:t>Data Pipeline</a:t>
            </a:r>
            <a:endParaRPr lang="en-US" sz="2500" dirty="0"/>
          </a:p>
        </p:txBody>
      </p:sp>
      <p:sp>
        <p:nvSpPr>
          <p:cNvPr id="5" name="Text 2"/>
          <p:cNvSpPr txBox="1"/>
          <p:nvPr/>
        </p:nvSpPr>
        <p:spPr>
          <a:xfrm>
            <a:off x="777240" y="2907792"/>
            <a:ext cx="10515600" cy="457200"/>
          </a:xfrm>
          <a:prstGeom prst="rect">
            <a:avLst/>
          </a:prstGeom>
          <a:noFill/>
          <a:ln/>
        </p:spPr>
        <p:txBody>
          <a:bodyPr wrap="square" lIns="0" tIns="0" rIns="0" bIns="0" rtlCol="0" anchor="ctr"/>
          <a:lstStyle/>
          <a:p>
            <a:pPr marL="0" indent="0">
              <a:buNone/>
            </a:pPr>
            <a:r>
              <a:rPr lang="en-US" sz="2500" dirty="0">
                <a:solidFill>
                  <a:srgbClr val="3E9183"/>
                </a:solidFill>
                <a:latin typeface="Cambria" pitchFamily="34" charset="0"/>
                <a:ea typeface="Cambria" pitchFamily="34" charset="-122"/>
                <a:cs typeface="Cambria" pitchFamily="34" charset="-120"/>
              </a:rPr>
              <a:t>with Machine-Learning ETA Prediction</a:t>
            </a:r>
            <a:endParaRPr lang="en-US" sz="2500" dirty="0"/>
          </a:p>
        </p:txBody>
      </p:sp>
      <p:sp>
        <p:nvSpPr>
          <p:cNvPr id="6" name="Shape 3"/>
          <p:cNvSpPr/>
          <p:nvPr/>
        </p:nvSpPr>
        <p:spPr>
          <a:xfrm>
            <a:off x="777240" y="3520440"/>
            <a:ext cx="1920240" cy="32004"/>
          </a:xfrm>
          <a:prstGeom prst="rect">
            <a:avLst/>
          </a:prstGeom>
          <a:solidFill>
            <a:srgbClr val="C08A1E"/>
          </a:solidFill>
          <a:ln/>
        </p:spPr>
      </p:sp>
      <p:sp>
        <p:nvSpPr>
          <p:cNvPr id="7" name="Text 4"/>
          <p:cNvSpPr txBox="1"/>
          <p:nvPr/>
        </p:nvSpPr>
        <p:spPr>
          <a:xfrm>
            <a:off x="3991555" y="3753908"/>
            <a:ext cx="8545664" cy="343496"/>
          </a:xfrm>
          <a:prstGeom prst="rect">
            <a:avLst/>
          </a:prstGeom>
          <a:noFill/>
          <a:ln/>
        </p:spPr>
        <p:txBody>
          <a:bodyPr wrap="square" lIns="0" tIns="0" rIns="0" bIns="0" rtlCol="0" anchor="ctr"/>
          <a:lstStyle/>
          <a:p>
            <a:pPr marL="0" indent="0">
              <a:buNone/>
            </a:pPr>
            <a:r>
              <a:rPr lang="en-US" sz="1250" dirty="0">
                <a:solidFill>
                  <a:srgbClr val="7C93A0"/>
                </a:solidFill>
                <a:latin typeface="Calibri" pitchFamily="34" charset="0"/>
                <a:ea typeface="Calibri" pitchFamily="34" charset="-122"/>
                <a:cs typeface="Calibri" pitchFamily="34" charset="-120"/>
              </a:rPr>
              <a:t>Hadoop HDFS  ·  Apache Kafka  ·  Apache Spark  ·  Spark MLlib  ·  Django</a:t>
            </a:r>
            <a:endParaRPr lang="en-US" sz="1250" dirty="0"/>
          </a:p>
        </p:txBody>
      </p:sp>
      <p:sp>
        <p:nvSpPr>
          <p:cNvPr id="8" name="Text 5"/>
          <p:cNvSpPr txBox="1"/>
          <p:nvPr/>
        </p:nvSpPr>
        <p:spPr>
          <a:xfrm>
            <a:off x="777240" y="4895020"/>
            <a:ext cx="4572000" cy="960120"/>
          </a:xfrm>
          <a:prstGeom prst="rect">
            <a:avLst/>
          </a:prstGeom>
          <a:noFill/>
          <a:ln/>
        </p:spPr>
        <p:txBody>
          <a:bodyPr wrap="square" lIns="0" tIns="0" rIns="0" bIns="0" rtlCol="0" anchor="ctr"/>
          <a:lstStyle/>
          <a:p>
            <a:pPr marL="0" indent="0">
              <a:lnSpc>
                <a:spcPts val="1900"/>
              </a:lnSpc>
              <a:buNone/>
            </a:pPr>
            <a:r>
              <a:rPr lang="en-US" sz="2400" dirty="0">
                <a:solidFill>
                  <a:srgbClr val="FFFFFF"/>
                </a:solidFill>
                <a:latin typeface="Bookman Old Style" panose="02050604050505020204" pitchFamily="18" charset="0"/>
                <a:ea typeface="Calibri" pitchFamily="34" charset="-122"/>
                <a:cs typeface="Calibri" pitchFamily="34" charset="-120"/>
              </a:rPr>
              <a:t>101420  Patrick </a:t>
            </a:r>
            <a:r>
              <a:rPr lang="en-US" sz="2400" dirty="0" smtClean="0">
                <a:solidFill>
                  <a:srgbClr val="FFFFFF"/>
                </a:solidFill>
                <a:latin typeface="Bookman Old Style" panose="02050604050505020204" pitchFamily="18" charset="0"/>
                <a:ea typeface="Calibri" pitchFamily="34" charset="-122"/>
                <a:cs typeface="Calibri" pitchFamily="34" charset="-120"/>
              </a:rPr>
              <a:t>Niyonshuti</a:t>
            </a:r>
            <a:endParaRPr lang="en-US" sz="2400" dirty="0">
              <a:latin typeface="Bookman Old Style" panose="02050604050505020204" pitchFamily="18" charset="0"/>
            </a:endParaRPr>
          </a:p>
          <a:p>
            <a:pPr marL="0" indent="0">
              <a:lnSpc>
                <a:spcPts val="1900"/>
              </a:lnSpc>
              <a:buNone/>
            </a:pPr>
            <a:r>
              <a:rPr lang="en-US" sz="2400" dirty="0">
                <a:solidFill>
                  <a:srgbClr val="FFFFFF"/>
                </a:solidFill>
                <a:latin typeface="Bookman Old Style" panose="02050604050505020204" pitchFamily="18" charset="0"/>
                <a:ea typeface="Calibri" pitchFamily="34" charset="-122"/>
                <a:cs typeface="Calibri" pitchFamily="34" charset="-120"/>
              </a:rPr>
              <a:t>101414  Erneste Uwimpuhwe</a:t>
            </a:r>
            <a:endParaRPr lang="en-US" sz="2400" dirty="0">
              <a:latin typeface="Bookman Old Style" panose="02050604050505020204" pitchFamily="18" charset="0"/>
            </a:endParaRPr>
          </a:p>
          <a:p>
            <a:pPr marL="0" indent="0">
              <a:lnSpc>
                <a:spcPts val="1900"/>
              </a:lnSpc>
              <a:buNone/>
            </a:pPr>
            <a:r>
              <a:rPr lang="en-US" sz="2400" dirty="0">
                <a:solidFill>
                  <a:srgbClr val="FFFFFF"/>
                </a:solidFill>
                <a:latin typeface="Bookman Old Style" panose="02050604050505020204" pitchFamily="18" charset="0"/>
                <a:ea typeface="Calibri" pitchFamily="34" charset="-122"/>
                <a:cs typeface="Calibri" pitchFamily="34" charset="-120"/>
              </a:rPr>
              <a:t>101366  Gisele Uwibereyeho</a:t>
            </a:r>
            <a:endParaRPr lang="en-US" sz="2400" dirty="0">
              <a:latin typeface="Bookman Old Style" panose="02050604050505020204" pitchFamily="18" charset="0"/>
            </a:endParaRPr>
          </a:p>
        </p:txBody>
      </p:sp>
      <p:sp>
        <p:nvSpPr>
          <p:cNvPr id="9" name="Text 6"/>
          <p:cNvSpPr txBox="1"/>
          <p:nvPr/>
        </p:nvSpPr>
        <p:spPr>
          <a:xfrm>
            <a:off x="6675120" y="4617719"/>
            <a:ext cx="5122628" cy="1514723"/>
          </a:xfrm>
          <a:prstGeom prst="rect">
            <a:avLst/>
          </a:prstGeom>
          <a:noFill/>
          <a:ln/>
        </p:spPr>
        <p:txBody>
          <a:bodyPr wrap="square" lIns="0" tIns="0" rIns="0" bIns="0" rtlCol="0" anchor="ctr"/>
          <a:lstStyle/>
          <a:p>
            <a:pPr marL="0" indent="0" algn="r">
              <a:lnSpc>
                <a:spcPts val="1900"/>
              </a:lnSpc>
              <a:buNone/>
            </a:pPr>
            <a:r>
              <a:rPr lang="en-US" sz="1600" b="1" dirty="0">
                <a:solidFill>
                  <a:srgbClr val="7C93A0"/>
                </a:solidFill>
                <a:latin typeface="Bookman Old Style" panose="02050604050505020204" pitchFamily="18" charset="0"/>
                <a:ea typeface="Calibri" pitchFamily="34" charset="-122"/>
                <a:cs typeface="Calibri" pitchFamily="34" charset="-120"/>
              </a:rPr>
              <a:t>Big Data Essentials </a:t>
            </a:r>
            <a:r>
              <a:rPr lang="en-US" sz="1600" b="1" dirty="0" smtClean="0">
                <a:solidFill>
                  <a:srgbClr val="7C93A0"/>
                </a:solidFill>
                <a:latin typeface="Bookman Old Style" panose="02050604050505020204" pitchFamily="18" charset="0"/>
                <a:ea typeface="Calibri" pitchFamily="34" charset="-122"/>
                <a:cs typeface="Calibri" pitchFamily="34" charset="-120"/>
              </a:rPr>
              <a:t> </a:t>
            </a:r>
            <a:r>
              <a:rPr lang="en-US" sz="1600" b="1" dirty="0">
                <a:solidFill>
                  <a:srgbClr val="7C93A0"/>
                </a:solidFill>
                <a:latin typeface="Bookman Old Style" panose="02050604050505020204" pitchFamily="18" charset="0"/>
                <a:ea typeface="Calibri" pitchFamily="34" charset="-122"/>
                <a:cs typeface="Calibri" pitchFamily="34" charset="-120"/>
              </a:rPr>
              <a:t>Group Final Exam Project</a:t>
            </a:r>
            <a:endParaRPr lang="en-US" sz="1600" dirty="0">
              <a:latin typeface="Bookman Old Style" panose="02050604050505020204" pitchFamily="18" charset="0"/>
            </a:endParaRPr>
          </a:p>
          <a:p>
            <a:pPr marL="0" indent="0" algn="r">
              <a:lnSpc>
                <a:spcPts val="1900"/>
              </a:lnSpc>
              <a:buNone/>
            </a:pPr>
            <a:r>
              <a:rPr lang="en-US" sz="1600" dirty="0">
                <a:solidFill>
                  <a:srgbClr val="7C93A0"/>
                </a:solidFill>
                <a:latin typeface="Bookman Old Style" panose="02050604050505020204" pitchFamily="18" charset="0"/>
                <a:ea typeface="Calibri" pitchFamily="34" charset="-122"/>
                <a:cs typeface="Calibri" pitchFamily="34" charset="-120"/>
              </a:rPr>
              <a:t>Adventist University of Central Africa</a:t>
            </a:r>
            <a:endParaRPr lang="en-US" sz="1600" dirty="0">
              <a:latin typeface="Bookman Old Style" panose="02050604050505020204" pitchFamily="18" charset="0"/>
            </a:endParaRPr>
          </a:p>
          <a:p>
            <a:pPr marL="0" indent="0" algn="r">
              <a:lnSpc>
                <a:spcPts val="1900"/>
              </a:lnSpc>
              <a:buNone/>
            </a:pPr>
            <a:r>
              <a:rPr lang="en-US" sz="2000" b="1" dirty="0">
                <a:solidFill>
                  <a:srgbClr val="7C93A0"/>
                </a:solidFill>
                <a:latin typeface="Bookman Old Style" panose="02050604050505020204" pitchFamily="18" charset="0"/>
                <a:ea typeface="Calibri" pitchFamily="34" charset="-122"/>
                <a:cs typeface="Calibri" pitchFamily="34" charset="-120"/>
              </a:rPr>
              <a:t>Lecturer: </a:t>
            </a:r>
            <a:r>
              <a:rPr lang="en-US" sz="2000" b="1" dirty="0" smtClean="0">
                <a:solidFill>
                  <a:srgbClr val="7C93A0"/>
                </a:solidFill>
                <a:latin typeface="Bookman Old Style" panose="02050604050505020204" pitchFamily="18" charset="0"/>
                <a:ea typeface="Calibri" pitchFamily="34" charset="-122"/>
                <a:cs typeface="Calibri" pitchFamily="34" charset="-120"/>
              </a:rPr>
              <a:t>Dr.Kundan </a:t>
            </a:r>
            <a:r>
              <a:rPr lang="en-US" sz="2000" b="1" dirty="0">
                <a:solidFill>
                  <a:srgbClr val="7C93A0"/>
                </a:solidFill>
                <a:latin typeface="Bookman Old Style" panose="02050604050505020204" pitchFamily="18" charset="0"/>
                <a:ea typeface="Calibri" pitchFamily="34" charset="-122"/>
                <a:cs typeface="Calibri" pitchFamily="34" charset="-120"/>
              </a:rPr>
              <a:t>Kumar</a:t>
            </a:r>
            <a:endParaRPr lang="en-US" sz="2000" b="1" dirty="0">
              <a:latin typeface="Bookman Old Style" panose="0205060405050502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11155680" cy="502920"/>
          </a:xfrm>
          <a:prstGeom prst="rect">
            <a:avLst/>
          </a:prstGeom>
          <a:noFill/>
          <a:ln/>
        </p:spPr>
        <p:txBody>
          <a:bodyPr wrap="square" lIns="0" tIns="0" rIns="0" bIns="0" rtlCol="0" anchor="ctr"/>
          <a:lstStyle/>
          <a:p>
            <a:pPr marL="0" indent="0">
              <a:buNone/>
            </a:pPr>
            <a:r>
              <a:rPr lang="en-US" sz="2700" b="1" dirty="0">
                <a:solidFill>
                  <a:srgbClr val="0F2833"/>
                </a:solidFill>
                <a:latin typeface="Cambria" pitchFamily="34" charset="0"/>
                <a:ea typeface="Cambria" pitchFamily="34" charset="-122"/>
                <a:cs typeface="Cambria" pitchFamily="34" charset="-120"/>
              </a:rPr>
              <a:t>The problem, in one sentence</a:t>
            </a:r>
            <a:endParaRPr lang="en-US" sz="2700" dirty="0"/>
          </a:p>
        </p:txBody>
      </p:sp>
      <p:sp>
        <p:nvSpPr>
          <p:cNvPr id="3" name="Text 1"/>
          <p:cNvSpPr txBox="1"/>
          <p:nvPr/>
        </p:nvSpPr>
        <p:spPr>
          <a:xfrm>
            <a:off x="502920" y="822960"/>
            <a:ext cx="11155680" cy="292608"/>
          </a:xfrm>
          <a:prstGeom prst="rect">
            <a:avLst/>
          </a:prstGeom>
          <a:noFill/>
          <a:ln/>
        </p:spPr>
        <p:txBody>
          <a:bodyPr wrap="square" lIns="0" tIns="0" rIns="0" bIns="0" rtlCol="0" anchor="ctr"/>
          <a:lstStyle/>
          <a:p>
            <a:pPr marL="0" indent="0">
              <a:buNone/>
            </a:pPr>
            <a:r>
              <a:rPr lang="en-US" sz="1200" dirty="0">
                <a:solidFill>
                  <a:srgbClr val="6E828C"/>
                </a:solidFill>
                <a:latin typeface="Calibri" pitchFamily="34" charset="0"/>
                <a:ea typeface="Calibri" pitchFamily="34" charset="-122"/>
                <a:cs typeface="Calibri" pitchFamily="34" charset="-120"/>
              </a:rPr>
              <a:t>A good case study makes the topic, the target and the decision obvious</a:t>
            </a:r>
            <a:endParaRPr lang="en-US" sz="1200" dirty="0"/>
          </a:p>
        </p:txBody>
      </p:sp>
      <p:sp>
        <p:nvSpPr>
          <p:cNvPr id="4" name="Shape 2"/>
          <p:cNvSpPr/>
          <p:nvPr/>
        </p:nvSpPr>
        <p:spPr>
          <a:xfrm>
            <a:off x="502920" y="1298448"/>
            <a:ext cx="11155680" cy="1234440"/>
          </a:xfrm>
          <a:prstGeom prst="roundRect">
            <a:avLst>
              <a:gd name="adj" fmla="val 3704"/>
            </a:avLst>
          </a:prstGeom>
          <a:solidFill>
            <a:srgbClr val="0F2833"/>
          </a:solidFill>
          <a:ln w="12700">
            <a:solidFill>
              <a:srgbClr val="E1E7EA"/>
            </a:solidFill>
            <a:prstDash val="solid"/>
          </a:ln>
        </p:spPr>
      </p:sp>
      <p:sp>
        <p:nvSpPr>
          <p:cNvPr id="5" name="Text 3"/>
          <p:cNvSpPr txBox="1"/>
          <p:nvPr/>
        </p:nvSpPr>
        <p:spPr>
          <a:xfrm>
            <a:off x="868680" y="1481328"/>
            <a:ext cx="10424160" cy="868680"/>
          </a:xfrm>
          <a:prstGeom prst="rect">
            <a:avLst/>
          </a:prstGeom>
          <a:noFill/>
          <a:ln/>
        </p:spPr>
        <p:txBody>
          <a:bodyPr wrap="square" lIns="0" tIns="0" rIns="0" bIns="0" rtlCol="0" anchor="ctr"/>
          <a:lstStyle/>
          <a:p>
            <a:pPr marL="0" indent="0">
              <a:buNone/>
            </a:pPr>
            <a:r>
              <a:rPr lang="en-US" sz="1600" i="1" dirty="0">
                <a:solidFill>
                  <a:srgbClr val="FFFFFF"/>
                </a:solidFill>
                <a:latin typeface="Cambria" pitchFamily="34" charset="0"/>
                <a:ea typeface="Cambria" pitchFamily="34" charset="-122"/>
                <a:cs typeface="Cambria" pitchFamily="34" charset="-120"/>
              </a:rPr>
              <a:t>The Kafka stream carries trip events as they happen, the Spark MLlib model predicts trip duration in minutes, and the dashboard shows dispatchers which trips are running late and which zones are short on drivers.</a:t>
            </a:r>
            <a:endParaRPr lang="en-US" sz="1600" dirty="0"/>
          </a:p>
        </p:txBody>
      </p:sp>
      <p:sp>
        <p:nvSpPr>
          <p:cNvPr id="6" name="Shape 4"/>
          <p:cNvSpPr/>
          <p:nvPr/>
        </p:nvSpPr>
        <p:spPr>
          <a:xfrm>
            <a:off x="521208" y="2807208"/>
            <a:ext cx="347472" cy="347472"/>
          </a:xfrm>
          <a:prstGeom prst="ellipse">
            <a:avLst/>
          </a:prstGeom>
          <a:solidFill>
            <a:srgbClr val="2A6B5F"/>
          </a:solidFill>
          <a:ln/>
        </p:spPr>
      </p:sp>
      <p:sp>
        <p:nvSpPr>
          <p:cNvPr id="7" name="Text 5"/>
          <p:cNvSpPr txBox="1"/>
          <p:nvPr/>
        </p:nvSpPr>
        <p:spPr>
          <a:xfrm>
            <a:off x="521208" y="2807208"/>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txBox="1"/>
          <p:nvPr/>
        </p:nvSpPr>
        <p:spPr>
          <a:xfrm>
            <a:off x="1024128" y="2788920"/>
            <a:ext cx="3017520" cy="274320"/>
          </a:xfrm>
          <a:prstGeom prst="rect">
            <a:avLst/>
          </a:prstGeom>
          <a:noFill/>
          <a:ln/>
        </p:spPr>
        <p:txBody>
          <a:bodyPr wrap="square" lIns="0" tIns="0" rIns="0" bIns="0" rtlCol="0" anchor="ctr"/>
          <a:lstStyle/>
          <a:p>
            <a:pPr marL="0" indent="0">
              <a:buNone/>
            </a:pPr>
            <a:r>
              <a:rPr lang="en-US" sz="1350" b="1" dirty="0">
                <a:solidFill>
                  <a:srgbClr val="0F2833"/>
                </a:solidFill>
                <a:latin typeface="Calibri" pitchFamily="34" charset="0"/>
                <a:ea typeface="Calibri" pitchFamily="34" charset="-122"/>
                <a:cs typeface="Calibri" pitchFamily="34" charset="-120"/>
              </a:rPr>
              <a:t>What the stream is</a:t>
            </a:r>
            <a:endParaRPr lang="en-US" sz="1350" dirty="0"/>
          </a:p>
        </p:txBody>
      </p:sp>
      <p:sp>
        <p:nvSpPr>
          <p:cNvPr id="9" name="Text 7"/>
          <p:cNvSpPr txBox="1"/>
          <p:nvPr/>
        </p:nvSpPr>
        <p:spPr>
          <a:xfrm>
            <a:off x="4206240" y="2788920"/>
            <a:ext cx="7406640" cy="566928"/>
          </a:xfrm>
          <a:prstGeom prst="rect">
            <a:avLst/>
          </a:prstGeom>
          <a:noFill/>
          <a:ln/>
        </p:spPr>
        <p:txBody>
          <a:bodyPr wrap="square" lIns="0" tIns="0" rIns="0" bIns="0" rtlCol="0" anchor="ctr"/>
          <a:lstStyle/>
          <a:p>
            <a:pPr marL="0" indent="0">
              <a:buNone/>
            </a:pPr>
            <a:r>
              <a:rPr lang="en-US" sz="1400" dirty="0">
                <a:solidFill>
                  <a:srgbClr val="6E828C"/>
                </a:solidFill>
                <a:latin typeface="Times New Roman" panose="02020603050405020304" pitchFamily="18" charset="0"/>
                <a:ea typeface="Calibri" pitchFamily="34" charset="-122"/>
                <a:cs typeface="Times New Roman" panose="02020603050405020304" pitchFamily="18" charset="0"/>
              </a:rPr>
              <a:t>One record per completed trip: route, distance, weather, traffic, surge, duration.</a:t>
            </a:r>
            <a:endParaRPr lang="en-US" sz="1400" dirty="0">
              <a:latin typeface="Times New Roman" panose="02020603050405020304" pitchFamily="18" charset="0"/>
              <a:cs typeface="Times New Roman" panose="02020603050405020304" pitchFamily="18" charset="0"/>
            </a:endParaRPr>
          </a:p>
        </p:txBody>
      </p:sp>
      <p:sp>
        <p:nvSpPr>
          <p:cNvPr id="10" name="Shape 8"/>
          <p:cNvSpPr/>
          <p:nvPr/>
        </p:nvSpPr>
        <p:spPr>
          <a:xfrm>
            <a:off x="521208" y="3703320"/>
            <a:ext cx="347472" cy="347472"/>
          </a:xfrm>
          <a:prstGeom prst="ellipse">
            <a:avLst/>
          </a:prstGeom>
          <a:solidFill>
            <a:srgbClr val="3E9183"/>
          </a:solidFill>
          <a:ln/>
        </p:spPr>
      </p:sp>
      <p:sp>
        <p:nvSpPr>
          <p:cNvPr id="11" name="Text 9"/>
          <p:cNvSpPr txBox="1"/>
          <p:nvPr/>
        </p:nvSpPr>
        <p:spPr>
          <a:xfrm>
            <a:off x="521208" y="3703320"/>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1024128" y="3685032"/>
            <a:ext cx="3017520" cy="274320"/>
          </a:xfrm>
          <a:prstGeom prst="rect">
            <a:avLst/>
          </a:prstGeom>
          <a:noFill/>
          <a:ln/>
        </p:spPr>
        <p:txBody>
          <a:bodyPr wrap="square" lIns="0" tIns="0" rIns="0" bIns="0" rtlCol="0" anchor="ctr"/>
          <a:lstStyle/>
          <a:p>
            <a:pPr marL="0" indent="0">
              <a:buNone/>
            </a:pPr>
            <a:r>
              <a:rPr lang="en-US" sz="1350" b="1" dirty="0">
                <a:solidFill>
                  <a:srgbClr val="0F2833"/>
                </a:solidFill>
                <a:latin typeface="Calibri" pitchFamily="34" charset="0"/>
                <a:ea typeface="Calibri" pitchFamily="34" charset="-122"/>
                <a:cs typeface="Calibri" pitchFamily="34" charset="-120"/>
              </a:rPr>
              <a:t>What the model predicts</a:t>
            </a:r>
            <a:endParaRPr lang="en-US" sz="1350" dirty="0"/>
          </a:p>
        </p:txBody>
      </p:sp>
      <p:sp>
        <p:nvSpPr>
          <p:cNvPr id="13" name="Text 11"/>
          <p:cNvSpPr txBox="1"/>
          <p:nvPr/>
        </p:nvSpPr>
        <p:spPr>
          <a:xfrm>
            <a:off x="4206240" y="3685032"/>
            <a:ext cx="7406640" cy="566928"/>
          </a:xfrm>
          <a:prstGeom prst="rect">
            <a:avLst/>
          </a:prstGeom>
          <a:noFill/>
          <a:ln/>
        </p:spPr>
        <p:txBody>
          <a:bodyPr wrap="square" lIns="0" tIns="0" rIns="0" bIns="0" rtlCol="0" anchor="ctr"/>
          <a:lstStyle/>
          <a:p>
            <a:pPr marL="0" indent="0">
              <a:buNone/>
            </a:pPr>
            <a:r>
              <a:rPr lang="en-US" sz="1400" dirty="0">
                <a:solidFill>
                  <a:srgbClr val="6E828C"/>
                </a:solidFill>
                <a:latin typeface="Times New Roman" panose="02020603050405020304" pitchFamily="18" charset="0"/>
                <a:ea typeface="Calibri" pitchFamily="34" charset="-122"/>
                <a:cs typeface="Times New Roman" panose="02020603050405020304" pitchFamily="18" charset="0"/>
              </a:rPr>
              <a:t>Trip duration in </a:t>
            </a:r>
            <a:r>
              <a:rPr lang="en-US" sz="1400" dirty="0" smtClean="0">
                <a:solidFill>
                  <a:srgbClr val="6E828C"/>
                </a:solidFill>
                <a:latin typeface="Times New Roman" panose="02020603050405020304" pitchFamily="18" charset="0"/>
                <a:ea typeface="Calibri" pitchFamily="34" charset="-122"/>
                <a:cs typeface="Times New Roman" panose="02020603050405020304" pitchFamily="18" charset="0"/>
              </a:rPr>
              <a:t>minutes — the </a:t>
            </a:r>
            <a:r>
              <a:rPr lang="en-US" sz="1400" dirty="0">
                <a:solidFill>
                  <a:srgbClr val="6E828C"/>
                </a:solidFill>
                <a:latin typeface="Times New Roman" panose="02020603050405020304" pitchFamily="18" charset="0"/>
                <a:ea typeface="Calibri" pitchFamily="34" charset="-122"/>
                <a:cs typeface="Times New Roman" panose="02020603050405020304" pitchFamily="18" charset="0"/>
              </a:rPr>
              <a:t>ETA a dispatcher promises a rider</a:t>
            </a:r>
            <a:r>
              <a:rPr lang="en-US" sz="1250" dirty="0">
                <a:solidFill>
                  <a:srgbClr val="6E828C"/>
                </a:solidFill>
                <a:latin typeface="Calibri" pitchFamily="34" charset="0"/>
                <a:ea typeface="Calibri" pitchFamily="34" charset="-122"/>
                <a:cs typeface="Calibri" pitchFamily="34" charset="-120"/>
              </a:rPr>
              <a:t>.</a:t>
            </a:r>
            <a:endParaRPr lang="en-US" sz="1250" dirty="0"/>
          </a:p>
        </p:txBody>
      </p:sp>
      <p:sp>
        <p:nvSpPr>
          <p:cNvPr id="14" name="Shape 12"/>
          <p:cNvSpPr/>
          <p:nvPr/>
        </p:nvSpPr>
        <p:spPr>
          <a:xfrm>
            <a:off x="521208" y="4599432"/>
            <a:ext cx="347472" cy="347472"/>
          </a:xfrm>
          <a:prstGeom prst="ellipse">
            <a:avLst/>
          </a:prstGeom>
          <a:solidFill>
            <a:srgbClr val="C08A1E"/>
          </a:solidFill>
          <a:ln/>
        </p:spPr>
      </p:sp>
      <p:sp>
        <p:nvSpPr>
          <p:cNvPr id="15" name="Text 13"/>
          <p:cNvSpPr txBox="1"/>
          <p:nvPr/>
        </p:nvSpPr>
        <p:spPr>
          <a:xfrm>
            <a:off x="521208" y="4599432"/>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Text 14"/>
          <p:cNvSpPr txBox="1"/>
          <p:nvPr/>
        </p:nvSpPr>
        <p:spPr>
          <a:xfrm>
            <a:off x="1024128" y="4581144"/>
            <a:ext cx="3017520" cy="274320"/>
          </a:xfrm>
          <a:prstGeom prst="rect">
            <a:avLst/>
          </a:prstGeom>
          <a:noFill/>
          <a:ln/>
        </p:spPr>
        <p:txBody>
          <a:bodyPr wrap="square" lIns="0" tIns="0" rIns="0" bIns="0" rtlCol="0" anchor="ctr"/>
          <a:lstStyle/>
          <a:p>
            <a:pPr marL="0" indent="0">
              <a:buNone/>
            </a:pPr>
            <a:r>
              <a:rPr lang="en-US" sz="1350" b="1" dirty="0">
                <a:solidFill>
                  <a:srgbClr val="0F2833"/>
                </a:solidFill>
                <a:latin typeface="Calibri" pitchFamily="34" charset="0"/>
                <a:ea typeface="Calibri" pitchFamily="34" charset="-122"/>
                <a:cs typeface="Calibri" pitchFamily="34" charset="-120"/>
              </a:rPr>
              <a:t>What decision it supports</a:t>
            </a:r>
            <a:endParaRPr lang="en-US" sz="1350" dirty="0"/>
          </a:p>
        </p:txBody>
      </p:sp>
      <p:sp>
        <p:nvSpPr>
          <p:cNvPr id="17" name="Text 15"/>
          <p:cNvSpPr txBox="1"/>
          <p:nvPr/>
        </p:nvSpPr>
        <p:spPr>
          <a:xfrm>
            <a:off x="4206240" y="4581144"/>
            <a:ext cx="7406640" cy="566928"/>
          </a:xfrm>
          <a:prstGeom prst="rect">
            <a:avLst/>
          </a:prstGeom>
          <a:noFill/>
          <a:ln/>
        </p:spPr>
        <p:txBody>
          <a:bodyPr wrap="square" lIns="0" tIns="0" rIns="0" bIns="0" rtlCol="0" anchor="ctr"/>
          <a:lstStyle/>
          <a:p>
            <a:pPr marL="0" indent="0">
              <a:buNone/>
            </a:pPr>
            <a:r>
              <a:rPr lang="en-US" sz="1400" dirty="0">
                <a:solidFill>
                  <a:srgbClr val="6E828C"/>
                </a:solidFill>
                <a:latin typeface="Times New Roman" panose="02020603050405020304" pitchFamily="18" charset="0"/>
                <a:ea typeface="Calibri" pitchFamily="34" charset="-122"/>
                <a:cs typeface="Times New Roman" panose="02020603050405020304" pitchFamily="18" charset="0"/>
              </a:rPr>
              <a:t>Which late trips need a call, and which hours need more drivers on shift.</a:t>
            </a:r>
            <a:endParaRPr lang="en-US" sz="1400" dirty="0">
              <a:latin typeface="Times New Roman" panose="02020603050405020304" pitchFamily="18" charset="0"/>
              <a:cs typeface="Times New Roman" panose="02020603050405020304" pitchFamily="18" charset="0"/>
            </a:endParaRPr>
          </a:p>
        </p:txBody>
      </p:sp>
      <p:sp>
        <p:nvSpPr>
          <p:cNvPr id="18" name="Shape 16"/>
          <p:cNvSpPr/>
          <p:nvPr/>
        </p:nvSpPr>
        <p:spPr>
          <a:xfrm>
            <a:off x="502920" y="5623560"/>
            <a:ext cx="11155680" cy="658368"/>
          </a:xfrm>
          <a:prstGeom prst="roundRect">
            <a:avLst>
              <a:gd name="adj" fmla="val 6944"/>
            </a:avLst>
          </a:prstGeom>
          <a:solidFill>
            <a:srgbClr val="EEF2F3"/>
          </a:solidFill>
          <a:ln w="12700">
            <a:solidFill>
              <a:srgbClr val="E1E7EA"/>
            </a:solidFill>
            <a:prstDash val="solid"/>
          </a:ln>
        </p:spPr>
      </p:sp>
      <p:sp>
        <p:nvSpPr>
          <p:cNvPr id="19" name="Text 17"/>
          <p:cNvSpPr txBox="1"/>
          <p:nvPr/>
        </p:nvSpPr>
        <p:spPr>
          <a:xfrm>
            <a:off x="822960" y="5760720"/>
            <a:ext cx="10515600" cy="384048"/>
          </a:xfrm>
          <a:prstGeom prst="rect">
            <a:avLst/>
          </a:prstGeom>
          <a:noFill/>
          <a:ln/>
        </p:spPr>
        <p:txBody>
          <a:bodyPr wrap="square" lIns="0" tIns="0" rIns="0" bIns="0" rtlCol="0" anchor="ctr"/>
          <a:lstStyle/>
          <a:p>
            <a:pPr marL="0" indent="0">
              <a:buNone/>
            </a:pPr>
            <a:r>
              <a:rPr lang="en-US" sz="2000" dirty="0">
                <a:solidFill>
                  <a:srgbClr val="0F2833"/>
                </a:solidFill>
                <a:latin typeface="Calibri" pitchFamily="34" charset="0"/>
                <a:ea typeface="Calibri" pitchFamily="34" charset="-122"/>
                <a:cs typeface="Calibri" pitchFamily="34" charset="-120"/>
              </a:rPr>
              <a:t>Kigali: eight zones · sixty drivers · fares in RWF  </a:t>
            </a:r>
            <a:r>
              <a:rPr lang="en-US" sz="2000" dirty="0" smtClean="0">
                <a:solidFill>
                  <a:srgbClr val="0F2833"/>
                </a:solidFill>
                <a:latin typeface="Calibri" pitchFamily="34" charset="0"/>
                <a:ea typeface="Calibri" pitchFamily="34" charset="-122"/>
                <a:cs typeface="Calibri" pitchFamily="34" charset="-120"/>
              </a:rPr>
              <a:t>ride-hailing </a:t>
            </a:r>
            <a:r>
              <a:rPr lang="en-US" sz="2000" dirty="0">
                <a:solidFill>
                  <a:srgbClr val="0F2833"/>
                </a:solidFill>
                <a:latin typeface="Calibri" pitchFamily="34" charset="0"/>
                <a:ea typeface="Calibri" pitchFamily="34" charset="-122"/>
                <a:cs typeface="Calibri" pitchFamily="34" charset="-120"/>
              </a:rPr>
              <a:t>with ETA </a:t>
            </a:r>
            <a:r>
              <a:rPr lang="en-US" sz="2000" dirty="0" smtClean="0">
                <a:solidFill>
                  <a:srgbClr val="0F2833"/>
                </a:solidFill>
                <a:latin typeface="Calibri" pitchFamily="34" charset="0"/>
                <a:ea typeface="Calibri" pitchFamily="34" charset="-122"/>
                <a:cs typeface="Calibri" pitchFamily="34" charset="-120"/>
              </a:rPr>
              <a:t>prediction</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11155680" cy="502920"/>
          </a:xfrm>
          <a:prstGeom prst="rect">
            <a:avLst/>
          </a:prstGeom>
          <a:noFill/>
          <a:ln/>
        </p:spPr>
        <p:txBody>
          <a:bodyPr wrap="square" lIns="0" tIns="0" rIns="0" bIns="0" rtlCol="0" anchor="ctr"/>
          <a:lstStyle/>
          <a:p>
            <a:pPr marL="0" indent="0">
              <a:buNone/>
            </a:pPr>
            <a:r>
              <a:rPr lang="en-US" sz="2700" b="1" dirty="0">
                <a:solidFill>
                  <a:srgbClr val="0F2833"/>
                </a:solidFill>
                <a:latin typeface="Cambria" pitchFamily="34" charset="0"/>
                <a:ea typeface="Cambria" pitchFamily="34" charset="-122"/>
                <a:cs typeface="Cambria" pitchFamily="34" charset="-120"/>
              </a:rPr>
              <a:t>Architecture as built</a:t>
            </a:r>
            <a:endParaRPr lang="en-US" sz="2700" dirty="0"/>
          </a:p>
        </p:txBody>
      </p:sp>
      <p:sp>
        <p:nvSpPr>
          <p:cNvPr id="3" name="Text 1"/>
          <p:cNvSpPr txBox="1"/>
          <p:nvPr/>
        </p:nvSpPr>
        <p:spPr>
          <a:xfrm>
            <a:off x="502920" y="822960"/>
            <a:ext cx="11155680" cy="292608"/>
          </a:xfrm>
          <a:prstGeom prst="rect">
            <a:avLst/>
          </a:prstGeom>
          <a:noFill/>
          <a:ln/>
        </p:spPr>
        <p:txBody>
          <a:bodyPr wrap="square" lIns="0" tIns="0" rIns="0" bIns="0" rtlCol="0" anchor="ctr"/>
          <a:lstStyle/>
          <a:p>
            <a:pPr marL="0" indent="0">
              <a:buNone/>
            </a:pPr>
            <a:r>
              <a:rPr lang="en-US" sz="1200" dirty="0">
                <a:solidFill>
                  <a:srgbClr val="6E828C"/>
                </a:solidFill>
                <a:latin typeface="Calibri" pitchFamily="34" charset="0"/>
                <a:ea typeface="Calibri" pitchFamily="34" charset="-122"/>
                <a:cs typeface="Calibri" pitchFamily="34" charset="-120"/>
              </a:rPr>
              <a:t>Nothing is copied by hand — both storage layers are fed automatically from one topic</a:t>
            </a:r>
            <a:endParaRPr lang="en-US" sz="1200" dirty="0"/>
          </a:p>
        </p:txBody>
      </p:sp>
      <p:sp>
        <p:nvSpPr>
          <p:cNvPr id="4" name="Shape 2"/>
          <p:cNvSpPr/>
          <p:nvPr/>
        </p:nvSpPr>
        <p:spPr>
          <a:xfrm>
            <a:off x="502920" y="1280160"/>
            <a:ext cx="2514600" cy="868680"/>
          </a:xfrm>
          <a:prstGeom prst="roundRect">
            <a:avLst>
              <a:gd name="adj" fmla="val 5263"/>
            </a:avLst>
          </a:prstGeom>
          <a:solidFill>
            <a:srgbClr val="2A6B5F"/>
          </a:solidFill>
          <a:ln/>
        </p:spPr>
      </p:sp>
      <p:sp>
        <p:nvSpPr>
          <p:cNvPr id="5" name="Text 3"/>
          <p:cNvSpPr txBox="1"/>
          <p:nvPr/>
        </p:nvSpPr>
        <p:spPr>
          <a:xfrm>
            <a:off x="594360" y="1371600"/>
            <a:ext cx="2331720"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Faker generator</a:t>
            </a:r>
            <a:endParaRPr lang="en-US" sz="1200" dirty="0"/>
          </a:p>
        </p:txBody>
      </p:sp>
      <p:sp>
        <p:nvSpPr>
          <p:cNvPr id="6" name="Text 4"/>
          <p:cNvSpPr txBox="1"/>
          <p:nvPr/>
        </p:nvSpPr>
        <p:spPr>
          <a:xfrm>
            <a:off x="594360" y="1810512"/>
            <a:ext cx="2331720" cy="256032"/>
          </a:xfrm>
          <a:prstGeom prst="rect">
            <a:avLst/>
          </a:prstGeom>
          <a:noFill/>
          <a:ln/>
        </p:spPr>
        <p:txBody>
          <a:bodyPr wrap="square" lIns="0" tIns="0" rIns="0" bIns="0"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tunable rate</a:t>
            </a:r>
            <a:endParaRPr lang="en-US" sz="950" dirty="0"/>
          </a:p>
        </p:txBody>
      </p:sp>
      <p:sp>
        <p:nvSpPr>
          <p:cNvPr id="7" name="Text 5"/>
          <p:cNvSpPr txBox="1"/>
          <p:nvPr/>
        </p:nvSpPr>
        <p:spPr>
          <a:xfrm>
            <a:off x="3044952" y="1517904"/>
            <a:ext cx="329184" cy="329184"/>
          </a:xfrm>
          <a:prstGeom prst="rect">
            <a:avLst/>
          </a:prstGeom>
          <a:noFill/>
          <a:ln/>
        </p:spPr>
        <p:txBody>
          <a:bodyPr wrap="square" lIns="0" tIns="0" rIns="0" bIns="0" rtlCol="0" anchor="ctr"/>
          <a:lstStyle/>
          <a:p>
            <a:pPr marL="0" indent="0" algn="ctr">
              <a:buNone/>
            </a:pPr>
            <a:r>
              <a:rPr lang="en-US" sz="1700" dirty="0">
                <a:solidFill>
                  <a:srgbClr val="7C93A0"/>
                </a:solidFill>
                <a:latin typeface="Calibri" pitchFamily="34" charset="0"/>
                <a:ea typeface="Calibri" pitchFamily="34" charset="-122"/>
                <a:cs typeface="Calibri" pitchFamily="34" charset="-120"/>
              </a:rPr>
              <a:t>→</a:t>
            </a:r>
            <a:endParaRPr lang="en-US" sz="1700" dirty="0"/>
          </a:p>
        </p:txBody>
      </p:sp>
      <p:sp>
        <p:nvSpPr>
          <p:cNvPr id="8" name="Shape 6"/>
          <p:cNvSpPr/>
          <p:nvPr/>
        </p:nvSpPr>
        <p:spPr>
          <a:xfrm>
            <a:off x="3392424" y="1280160"/>
            <a:ext cx="2514600" cy="868680"/>
          </a:xfrm>
          <a:prstGeom prst="roundRect">
            <a:avLst>
              <a:gd name="adj" fmla="val 5263"/>
            </a:avLst>
          </a:prstGeom>
          <a:solidFill>
            <a:srgbClr val="2A6B5F"/>
          </a:solidFill>
          <a:ln/>
        </p:spPr>
      </p:sp>
      <p:sp>
        <p:nvSpPr>
          <p:cNvPr id="9" name="Text 7"/>
          <p:cNvSpPr txBox="1"/>
          <p:nvPr/>
        </p:nvSpPr>
        <p:spPr>
          <a:xfrm>
            <a:off x="3483864" y="1371600"/>
            <a:ext cx="2331720"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Django REST</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Framework</a:t>
            </a:r>
            <a:endParaRPr lang="en-US" sz="1200" dirty="0"/>
          </a:p>
        </p:txBody>
      </p:sp>
      <p:sp>
        <p:nvSpPr>
          <p:cNvPr id="10" name="Text 8"/>
          <p:cNvSpPr txBox="1"/>
          <p:nvPr/>
        </p:nvSpPr>
        <p:spPr>
          <a:xfrm>
            <a:off x="3483864" y="1810512"/>
            <a:ext cx="2331720" cy="256032"/>
          </a:xfrm>
          <a:prstGeom prst="rect">
            <a:avLst/>
          </a:prstGeom>
          <a:noFill/>
          <a:ln/>
        </p:spPr>
        <p:txBody>
          <a:bodyPr wrap="square" lIns="0" tIns="0" rIns="0" bIns="0"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key = driver_id</a:t>
            </a:r>
            <a:endParaRPr lang="en-US" sz="950" dirty="0"/>
          </a:p>
        </p:txBody>
      </p:sp>
      <p:sp>
        <p:nvSpPr>
          <p:cNvPr id="11" name="Text 9"/>
          <p:cNvSpPr txBox="1"/>
          <p:nvPr/>
        </p:nvSpPr>
        <p:spPr>
          <a:xfrm>
            <a:off x="5934456" y="1517904"/>
            <a:ext cx="329184" cy="329184"/>
          </a:xfrm>
          <a:prstGeom prst="rect">
            <a:avLst/>
          </a:prstGeom>
          <a:noFill/>
          <a:ln/>
        </p:spPr>
        <p:txBody>
          <a:bodyPr wrap="square" lIns="0" tIns="0" rIns="0" bIns="0" rtlCol="0" anchor="ctr"/>
          <a:lstStyle/>
          <a:p>
            <a:pPr marL="0" indent="0" algn="ctr">
              <a:buNone/>
            </a:pPr>
            <a:r>
              <a:rPr lang="en-US" sz="1700" dirty="0">
                <a:solidFill>
                  <a:srgbClr val="7C93A0"/>
                </a:solidFill>
                <a:latin typeface="Calibri" pitchFamily="34" charset="0"/>
                <a:ea typeface="Calibri" pitchFamily="34" charset="-122"/>
                <a:cs typeface="Calibri" pitchFamily="34" charset="-120"/>
              </a:rPr>
              <a:t>→</a:t>
            </a:r>
            <a:endParaRPr lang="en-US" sz="1700" dirty="0"/>
          </a:p>
        </p:txBody>
      </p:sp>
      <p:sp>
        <p:nvSpPr>
          <p:cNvPr id="12" name="Shape 10"/>
          <p:cNvSpPr/>
          <p:nvPr/>
        </p:nvSpPr>
        <p:spPr>
          <a:xfrm>
            <a:off x="6281928" y="1280160"/>
            <a:ext cx="2514600" cy="868680"/>
          </a:xfrm>
          <a:prstGeom prst="roundRect">
            <a:avLst>
              <a:gd name="adj" fmla="val 5263"/>
            </a:avLst>
          </a:prstGeom>
          <a:solidFill>
            <a:srgbClr val="C08A1E"/>
          </a:solidFill>
          <a:ln/>
        </p:spPr>
      </p:sp>
      <p:sp>
        <p:nvSpPr>
          <p:cNvPr id="13" name="Text 11"/>
          <p:cNvSpPr txBox="1"/>
          <p:nvPr/>
        </p:nvSpPr>
        <p:spPr>
          <a:xfrm>
            <a:off x="6373368" y="1371600"/>
            <a:ext cx="2331720"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Kafka</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trip-events</a:t>
            </a:r>
            <a:endParaRPr lang="en-US" sz="1200" dirty="0"/>
          </a:p>
        </p:txBody>
      </p:sp>
      <p:sp>
        <p:nvSpPr>
          <p:cNvPr id="14" name="Text 12"/>
          <p:cNvSpPr txBox="1"/>
          <p:nvPr/>
        </p:nvSpPr>
        <p:spPr>
          <a:xfrm>
            <a:off x="6373368" y="1810512"/>
            <a:ext cx="2331720" cy="256032"/>
          </a:xfrm>
          <a:prstGeom prst="rect">
            <a:avLst/>
          </a:prstGeom>
          <a:noFill/>
          <a:ln/>
        </p:spPr>
        <p:txBody>
          <a:bodyPr wrap="square" lIns="0" tIns="0" rIns="0" bIns="0"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3 partitions</a:t>
            </a:r>
            <a:endParaRPr lang="en-US" sz="950" dirty="0"/>
          </a:p>
        </p:txBody>
      </p:sp>
      <p:sp>
        <p:nvSpPr>
          <p:cNvPr id="15" name="Text 13"/>
          <p:cNvSpPr txBox="1"/>
          <p:nvPr/>
        </p:nvSpPr>
        <p:spPr>
          <a:xfrm>
            <a:off x="8823960" y="1517904"/>
            <a:ext cx="329184" cy="329184"/>
          </a:xfrm>
          <a:prstGeom prst="rect">
            <a:avLst/>
          </a:prstGeom>
          <a:noFill/>
          <a:ln/>
        </p:spPr>
        <p:txBody>
          <a:bodyPr wrap="square" lIns="0" tIns="0" rIns="0" bIns="0" rtlCol="0" anchor="ctr"/>
          <a:lstStyle/>
          <a:p>
            <a:pPr marL="0" indent="0" algn="ctr">
              <a:buNone/>
            </a:pPr>
            <a:r>
              <a:rPr lang="en-US" sz="1700" dirty="0">
                <a:solidFill>
                  <a:srgbClr val="7C93A0"/>
                </a:solidFill>
                <a:latin typeface="Calibri" pitchFamily="34" charset="0"/>
                <a:ea typeface="Calibri" pitchFamily="34" charset="-122"/>
                <a:cs typeface="Calibri" pitchFamily="34" charset="-120"/>
              </a:rPr>
              <a:t>→</a:t>
            </a:r>
            <a:endParaRPr lang="en-US" sz="1700" dirty="0"/>
          </a:p>
        </p:txBody>
      </p:sp>
      <p:sp>
        <p:nvSpPr>
          <p:cNvPr id="16" name="Shape 14"/>
          <p:cNvSpPr/>
          <p:nvPr/>
        </p:nvSpPr>
        <p:spPr>
          <a:xfrm>
            <a:off x="9171432" y="1280160"/>
            <a:ext cx="2514600" cy="868680"/>
          </a:xfrm>
          <a:prstGeom prst="roundRect">
            <a:avLst>
              <a:gd name="adj" fmla="val 5263"/>
            </a:avLst>
          </a:prstGeom>
          <a:solidFill>
            <a:srgbClr val="3E9183"/>
          </a:solidFill>
          <a:ln/>
        </p:spPr>
      </p:sp>
      <p:sp>
        <p:nvSpPr>
          <p:cNvPr id="17" name="Text 15"/>
          <p:cNvSpPr txBox="1"/>
          <p:nvPr/>
        </p:nvSpPr>
        <p:spPr>
          <a:xfrm>
            <a:off x="9262872" y="1371600"/>
            <a:ext cx="2331720"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Kafka Connect</a:t>
            </a:r>
            <a:endParaRPr lang="en-US" sz="1200" dirty="0"/>
          </a:p>
        </p:txBody>
      </p:sp>
      <p:sp>
        <p:nvSpPr>
          <p:cNvPr id="18" name="Text 16"/>
          <p:cNvSpPr txBox="1"/>
          <p:nvPr/>
        </p:nvSpPr>
        <p:spPr>
          <a:xfrm>
            <a:off x="9262872" y="1810512"/>
            <a:ext cx="2331720" cy="256032"/>
          </a:xfrm>
          <a:prstGeom prst="rect">
            <a:avLst/>
          </a:prstGeom>
          <a:noFill/>
          <a:ln/>
        </p:spPr>
        <p:txBody>
          <a:bodyPr wrap="square" lIns="0" tIns="0" rIns="0" bIns="0"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two sinks</a:t>
            </a:r>
            <a:endParaRPr lang="en-US" sz="950" dirty="0"/>
          </a:p>
        </p:txBody>
      </p:sp>
      <p:sp>
        <p:nvSpPr>
          <p:cNvPr id="19" name="Shape 17"/>
          <p:cNvSpPr/>
          <p:nvPr/>
        </p:nvSpPr>
        <p:spPr>
          <a:xfrm>
            <a:off x="502920" y="2423160"/>
            <a:ext cx="5257800" cy="1325880"/>
          </a:xfrm>
          <a:prstGeom prst="roundRect">
            <a:avLst>
              <a:gd name="adj" fmla="val 3448"/>
            </a:avLst>
          </a:prstGeom>
          <a:solidFill>
            <a:srgbClr val="16303B"/>
          </a:solidFill>
          <a:ln/>
        </p:spPr>
      </p:sp>
      <p:sp>
        <p:nvSpPr>
          <p:cNvPr id="20" name="Text 18"/>
          <p:cNvSpPr txBox="1"/>
          <p:nvPr/>
        </p:nvSpPr>
        <p:spPr>
          <a:xfrm>
            <a:off x="704088" y="2523744"/>
            <a:ext cx="4846320" cy="36576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MariaDB</a:t>
            </a:r>
            <a:endParaRPr lang="en-US" sz="1800" dirty="0"/>
          </a:p>
        </p:txBody>
      </p:sp>
      <p:sp>
        <p:nvSpPr>
          <p:cNvPr id="21" name="Text 19"/>
          <p:cNvSpPr txBox="1"/>
          <p:nvPr/>
        </p:nvSpPr>
        <p:spPr>
          <a:xfrm>
            <a:off x="704088" y="2871216"/>
            <a:ext cx="4846320" cy="256032"/>
          </a:xfrm>
          <a:prstGeom prst="rect">
            <a:avLst/>
          </a:prstGeom>
          <a:noFill/>
          <a:ln/>
        </p:spPr>
        <p:txBody>
          <a:bodyPr wrap="square" lIns="0" tIns="0" rIns="0" bIns="0" rtlCol="0" anchor="ctr"/>
          <a:lstStyle/>
          <a:p>
            <a:pPr marL="0" indent="0">
              <a:buNone/>
            </a:pPr>
            <a:r>
              <a:rPr lang="en-US" sz="1050" dirty="0">
                <a:solidFill>
                  <a:srgbClr val="CFE0DC"/>
                </a:solidFill>
                <a:latin typeface="Calibri" pitchFamily="34" charset="0"/>
                <a:ea typeface="Calibri" pitchFamily="34" charset="-122"/>
                <a:cs typeface="Calibri" pitchFamily="34" charset="-120"/>
              </a:rPr>
              <a:t>Operational store</a:t>
            </a:r>
            <a:endParaRPr lang="en-US" sz="1050" dirty="0"/>
          </a:p>
        </p:txBody>
      </p:sp>
      <p:sp>
        <p:nvSpPr>
          <p:cNvPr id="22" name="Text 20"/>
          <p:cNvSpPr txBox="1"/>
          <p:nvPr/>
        </p:nvSpPr>
        <p:spPr>
          <a:xfrm>
            <a:off x="704088" y="3127248"/>
            <a:ext cx="4846320" cy="530352"/>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One row per trip, indexed.</a:t>
            </a:r>
            <a:endParaRPr lang="en-US" sz="1050" dirty="0"/>
          </a:p>
          <a:p>
            <a:pPr marL="0" indent="0">
              <a:buNone/>
            </a:pPr>
            <a:r>
              <a:rPr lang="en-US" sz="1050" dirty="0">
                <a:solidFill>
                  <a:srgbClr val="FFFFFF"/>
                </a:solidFill>
                <a:latin typeface="Calibri" pitchFamily="34" charset="0"/>
                <a:ea typeface="Calibri" pitchFamily="34" charset="-122"/>
                <a:cs typeface="Calibri" pitchFamily="34" charset="-120"/>
              </a:rPr>
              <a:t>Answers: what is true now.</a:t>
            </a:r>
            <a:endParaRPr lang="en-US" sz="1050" dirty="0"/>
          </a:p>
        </p:txBody>
      </p:sp>
      <p:sp>
        <p:nvSpPr>
          <p:cNvPr id="23" name="Shape 21"/>
          <p:cNvSpPr/>
          <p:nvPr/>
        </p:nvSpPr>
        <p:spPr>
          <a:xfrm>
            <a:off x="6309360" y="2423160"/>
            <a:ext cx="5257800" cy="1325880"/>
          </a:xfrm>
          <a:prstGeom prst="roundRect">
            <a:avLst>
              <a:gd name="adj" fmla="val 3448"/>
            </a:avLst>
          </a:prstGeom>
          <a:solidFill>
            <a:srgbClr val="2A6B5F"/>
          </a:solidFill>
          <a:ln/>
        </p:spPr>
      </p:sp>
      <p:sp>
        <p:nvSpPr>
          <p:cNvPr id="24" name="Text 22"/>
          <p:cNvSpPr txBox="1"/>
          <p:nvPr/>
        </p:nvSpPr>
        <p:spPr>
          <a:xfrm>
            <a:off x="6510528" y="2523744"/>
            <a:ext cx="4846320" cy="36576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HDFS</a:t>
            </a:r>
            <a:endParaRPr lang="en-US" sz="1800" dirty="0"/>
          </a:p>
        </p:txBody>
      </p:sp>
      <p:sp>
        <p:nvSpPr>
          <p:cNvPr id="25" name="Text 23"/>
          <p:cNvSpPr txBox="1"/>
          <p:nvPr/>
        </p:nvSpPr>
        <p:spPr>
          <a:xfrm>
            <a:off x="6510528" y="2871216"/>
            <a:ext cx="4846320" cy="256032"/>
          </a:xfrm>
          <a:prstGeom prst="rect">
            <a:avLst/>
          </a:prstGeom>
          <a:noFill/>
          <a:ln/>
        </p:spPr>
        <p:txBody>
          <a:bodyPr wrap="square" lIns="0" tIns="0" rIns="0" bIns="0" rtlCol="0" anchor="ctr"/>
          <a:lstStyle/>
          <a:p>
            <a:pPr marL="0" indent="0">
              <a:buNone/>
            </a:pPr>
            <a:r>
              <a:rPr lang="en-US" sz="1050" dirty="0">
                <a:solidFill>
                  <a:srgbClr val="CFE0DC"/>
                </a:solidFill>
                <a:latin typeface="Calibri" pitchFamily="34" charset="0"/>
                <a:ea typeface="Calibri" pitchFamily="34" charset="-122"/>
                <a:cs typeface="Calibri" pitchFamily="34" charset="-120"/>
              </a:rPr>
              <a:t>Historical store</a:t>
            </a:r>
            <a:endParaRPr lang="en-US" sz="1050" dirty="0"/>
          </a:p>
        </p:txBody>
      </p:sp>
      <p:sp>
        <p:nvSpPr>
          <p:cNvPr id="26" name="Text 24"/>
          <p:cNvSpPr txBox="1"/>
          <p:nvPr/>
        </p:nvSpPr>
        <p:spPr>
          <a:xfrm>
            <a:off x="6510528" y="3127248"/>
            <a:ext cx="4846320" cy="530352"/>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Every event, Parquet, replicated.</a:t>
            </a:r>
            <a:endParaRPr lang="en-US" sz="1050" dirty="0"/>
          </a:p>
          <a:p>
            <a:pPr marL="0" indent="0">
              <a:buNone/>
            </a:pPr>
            <a:r>
              <a:rPr lang="en-US" sz="1050" dirty="0">
                <a:solidFill>
                  <a:srgbClr val="FFFFFF"/>
                </a:solidFill>
                <a:latin typeface="Calibri" pitchFamily="34" charset="0"/>
                <a:ea typeface="Calibri" pitchFamily="34" charset="-122"/>
                <a:cs typeface="Calibri" pitchFamily="34" charset="-120"/>
              </a:rPr>
              <a:t>Answers: what happened.</a:t>
            </a:r>
            <a:endParaRPr lang="en-US" sz="1050" dirty="0"/>
          </a:p>
        </p:txBody>
      </p:sp>
      <p:sp>
        <p:nvSpPr>
          <p:cNvPr id="27" name="Shape 25"/>
          <p:cNvSpPr/>
          <p:nvPr/>
        </p:nvSpPr>
        <p:spPr>
          <a:xfrm>
            <a:off x="502920" y="4023360"/>
            <a:ext cx="3520440" cy="841248"/>
          </a:xfrm>
          <a:prstGeom prst="roundRect">
            <a:avLst>
              <a:gd name="adj" fmla="val 5435"/>
            </a:avLst>
          </a:prstGeom>
          <a:solidFill>
            <a:srgbClr val="EEF2F3"/>
          </a:solidFill>
          <a:ln w="12700">
            <a:solidFill>
              <a:srgbClr val="E1E7EA"/>
            </a:solidFill>
            <a:prstDash val="solid"/>
          </a:ln>
        </p:spPr>
      </p:sp>
      <p:sp>
        <p:nvSpPr>
          <p:cNvPr id="28" name="Text 26"/>
          <p:cNvSpPr txBox="1"/>
          <p:nvPr/>
        </p:nvSpPr>
        <p:spPr>
          <a:xfrm>
            <a:off x="667512" y="4114800"/>
            <a:ext cx="3200400" cy="274320"/>
          </a:xfrm>
          <a:prstGeom prst="rect">
            <a:avLst/>
          </a:prstGeom>
          <a:noFill/>
          <a:ln/>
        </p:spPr>
        <p:txBody>
          <a:bodyPr wrap="square" lIns="0" tIns="0" rIns="0" bIns="0" rtlCol="0" anchor="ctr"/>
          <a:lstStyle/>
          <a:p>
            <a:pPr marL="0" indent="0">
              <a:buNone/>
            </a:pPr>
            <a:r>
              <a:rPr lang="en-US" sz="1200" b="1" dirty="0">
                <a:solidFill>
                  <a:srgbClr val="0F2833"/>
                </a:solidFill>
                <a:latin typeface="Calibri" pitchFamily="34" charset="0"/>
                <a:ea typeface="Calibri" pitchFamily="34" charset="-122"/>
                <a:cs typeface="Calibri" pitchFamily="34" charset="-120"/>
              </a:rPr>
              <a:t>PySpark insights</a:t>
            </a:r>
            <a:endParaRPr lang="en-US" sz="1200" dirty="0"/>
          </a:p>
        </p:txBody>
      </p:sp>
      <p:sp>
        <p:nvSpPr>
          <p:cNvPr id="29" name="Text 27"/>
          <p:cNvSpPr txBox="1"/>
          <p:nvPr/>
        </p:nvSpPr>
        <p:spPr>
          <a:xfrm>
            <a:off x="667512" y="4389120"/>
            <a:ext cx="3200400" cy="384048"/>
          </a:xfrm>
          <a:prstGeom prst="rect">
            <a:avLst/>
          </a:prstGeom>
          <a:noFill/>
          <a:ln/>
        </p:spPr>
        <p:txBody>
          <a:bodyPr wrap="square" lIns="0" tIns="0" rIns="0" bIns="0" rtlCol="0" anchor="ctr"/>
          <a:lstStyle/>
          <a:p>
            <a:pPr marL="0" indent="0">
              <a:buNone/>
            </a:pPr>
            <a:r>
              <a:rPr lang="en-US" sz="1000" dirty="0">
                <a:solidFill>
                  <a:srgbClr val="6E828C"/>
                </a:solidFill>
                <a:latin typeface="Calibri" pitchFamily="34" charset="0"/>
                <a:ea typeface="Calibri" pitchFamily="34" charset="-122"/>
                <a:cs typeface="Calibri" pitchFamily="34" charset="-120"/>
              </a:rPr>
              <a:t>3 business insights from HDFS</a:t>
            </a:r>
            <a:endParaRPr lang="en-US" sz="1000" dirty="0"/>
          </a:p>
        </p:txBody>
      </p:sp>
      <p:sp>
        <p:nvSpPr>
          <p:cNvPr id="30" name="Shape 28"/>
          <p:cNvSpPr/>
          <p:nvPr/>
        </p:nvSpPr>
        <p:spPr>
          <a:xfrm>
            <a:off x="4215384" y="4023360"/>
            <a:ext cx="3520440" cy="841248"/>
          </a:xfrm>
          <a:prstGeom prst="roundRect">
            <a:avLst>
              <a:gd name="adj" fmla="val 5435"/>
            </a:avLst>
          </a:prstGeom>
          <a:solidFill>
            <a:srgbClr val="EEF2F3"/>
          </a:solidFill>
          <a:ln w="12700">
            <a:solidFill>
              <a:srgbClr val="E1E7EA"/>
            </a:solidFill>
            <a:prstDash val="solid"/>
          </a:ln>
        </p:spPr>
      </p:sp>
      <p:sp>
        <p:nvSpPr>
          <p:cNvPr id="31" name="Text 29"/>
          <p:cNvSpPr txBox="1"/>
          <p:nvPr/>
        </p:nvSpPr>
        <p:spPr>
          <a:xfrm>
            <a:off x="4379976" y="4114800"/>
            <a:ext cx="3200400" cy="274320"/>
          </a:xfrm>
          <a:prstGeom prst="rect">
            <a:avLst/>
          </a:prstGeom>
          <a:noFill/>
          <a:ln/>
        </p:spPr>
        <p:txBody>
          <a:bodyPr wrap="square" lIns="0" tIns="0" rIns="0" bIns="0" rtlCol="0" anchor="ctr"/>
          <a:lstStyle/>
          <a:p>
            <a:pPr marL="0" indent="0">
              <a:buNone/>
            </a:pPr>
            <a:r>
              <a:rPr lang="en-US" sz="1200" b="1" dirty="0">
                <a:solidFill>
                  <a:srgbClr val="0F2833"/>
                </a:solidFill>
                <a:latin typeface="Calibri" pitchFamily="34" charset="0"/>
                <a:ea typeface="Calibri" pitchFamily="34" charset="-122"/>
                <a:cs typeface="Calibri" pitchFamily="34" charset="-120"/>
              </a:rPr>
              <a:t>Spark MLlib</a:t>
            </a:r>
            <a:endParaRPr lang="en-US" sz="1200" dirty="0"/>
          </a:p>
        </p:txBody>
      </p:sp>
      <p:sp>
        <p:nvSpPr>
          <p:cNvPr id="32" name="Text 30"/>
          <p:cNvSpPr txBox="1"/>
          <p:nvPr/>
        </p:nvSpPr>
        <p:spPr>
          <a:xfrm>
            <a:off x="4379976" y="4389120"/>
            <a:ext cx="3200400" cy="384048"/>
          </a:xfrm>
          <a:prstGeom prst="rect">
            <a:avLst/>
          </a:prstGeom>
          <a:noFill/>
          <a:ln/>
        </p:spPr>
        <p:txBody>
          <a:bodyPr wrap="square" lIns="0" tIns="0" rIns="0" bIns="0" rtlCol="0" anchor="ctr"/>
          <a:lstStyle/>
          <a:p>
            <a:pPr marL="0" indent="0">
              <a:buNone/>
            </a:pPr>
            <a:r>
              <a:rPr lang="en-US" sz="1000" dirty="0">
                <a:solidFill>
                  <a:srgbClr val="6E828C"/>
                </a:solidFill>
                <a:latin typeface="Calibri" pitchFamily="34" charset="0"/>
                <a:ea typeface="Calibri" pitchFamily="34" charset="-122"/>
                <a:cs typeface="Calibri" pitchFamily="34" charset="-120"/>
              </a:rPr>
              <a:t>GBT trained, saved, redeployed</a:t>
            </a:r>
            <a:endParaRPr lang="en-US" sz="1000" dirty="0"/>
          </a:p>
        </p:txBody>
      </p:sp>
      <p:sp>
        <p:nvSpPr>
          <p:cNvPr id="33" name="Shape 31"/>
          <p:cNvSpPr/>
          <p:nvPr/>
        </p:nvSpPr>
        <p:spPr>
          <a:xfrm>
            <a:off x="7927848" y="4023360"/>
            <a:ext cx="3520440" cy="841248"/>
          </a:xfrm>
          <a:prstGeom prst="roundRect">
            <a:avLst>
              <a:gd name="adj" fmla="val 5435"/>
            </a:avLst>
          </a:prstGeom>
          <a:solidFill>
            <a:srgbClr val="EEF2F3"/>
          </a:solidFill>
          <a:ln w="12700">
            <a:solidFill>
              <a:srgbClr val="E1E7EA"/>
            </a:solidFill>
            <a:prstDash val="solid"/>
          </a:ln>
        </p:spPr>
      </p:sp>
      <p:sp>
        <p:nvSpPr>
          <p:cNvPr id="34" name="Text 32"/>
          <p:cNvSpPr txBox="1"/>
          <p:nvPr/>
        </p:nvSpPr>
        <p:spPr>
          <a:xfrm>
            <a:off x="8092440" y="4114800"/>
            <a:ext cx="3200400" cy="274320"/>
          </a:xfrm>
          <a:prstGeom prst="rect">
            <a:avLst/>
          </a:prstGeom>
          <a:noFill/>
          <a:ln/>
        </p:spPr>
        <p:txBody>
          <a:bodyPr wrap="square" lIns="0" tIns="0" rIns="0" bIns="0" rtlCol="0" anchor="ctr"/>
          <a:lstStyle/>
          <a:p>
            <a:pPr marL="0" indent="0">
              <a:buNone/>
            </a:pPr>
            <a:r>
              <a:rPr lang="en-US" sz="1200" b="1" dirty="0">
                <a:solidFill>
                  <a:srgbClr val="0F2833"/>
                </a:solidFill>
                <a:latin typeface="Calibri" pitchFamily="34" charset="0"/>
                <a:ea typeface="Calibri" pitchFamily="34" charset="-122"/>
                <a:cs typeface="Calibri" pitchFamily="34" charset="-120"/>
              </a:rPr>
              <a:t>Django dashboard</a:t>
            </a:r>
            <a:endParaRPr lang="en-US" sz="1200" dirty="0"/>
          </a:p>
        </p:txBody>
      </p:sp>
      <p:sp>
        <p:nvSpPr>
          <p:cNvPr id="35" name="Text 33"/>
          <p:cNvSpPr txBox="1"/>
          <p:nvPr/>
        </p:nvSpPr>
        <p:spPr>
          <a:xfrm>
            <a:off x="8092440" y="4389120"/>
            <a:ext cx="3200400" cy="384048"/>
          </a:xfrm>
          <a:prstGeom prst="rect">
            <a:avLst/>
          </a:prstGeom>
          <a:noFill/>
          <a:ln/>
        </p:spPr>
        <p:txBody>
          <a:bodyPr wrap="square" lIns="0" tIns="0" rIns="0" bIns="0" rtlCol="0" anchor="ctr"/>
          <a:lstStyle/>
          <a:p>
            <a:pPr marL="0" indent="0">
              <a:buNone/>
            </a:pPr>
            <a:r>
              <a:rPr lang="en-US" sz="1000" dirty="0">
                <a:solidFill>
                  <a:srgbClr val="6E828C"/>
                </a:solidFill>
                <a:latin typeface="Calibri" pitchFamily="34" charset="0"/>
                <a:ea typeface="Calibri" pitchFamily="34" charset="-122"/>
                <a:cs typeface="Calibri" pitchFamily="34" charset="-120"/>
              </a:rPr>
              <a:t>live board + admin, 7 charts</a:t>
            </a:r>
            <a:endParaRPr lang="en-US" sz="1000" dirty="0"/>
          </a:p>
        </p:txBody>
      </p:sp>
      <p:sp>
        <p:nvSpPr>
          <p:cNvPr id="36" name="Shape 34"/>
          <p:cNvSpPr/>
          <p:nvPr/>
        </p:nvSpPr>
        <p:spPr>
          <a:xfrm>
            <a:off x="502920" y="5074920"/>
            <a:ext cx="11155680" cy="1143000"/>
          </a:xfrm>
          <a:prstGeom prst="roundRect">
            <a:avLst>
              <a:gd name="adj" fmla="val 4000"/>
            </a:avLst>
          </a:prstGeom>
          <a:solidFill>
            <a:srgbClr val="EEF2F3"/>
          </a:solidFill>
          <a:ln w="12700">
            <a:solidFill>
              <a:srgbClr val="E1E7EA"/>
            </a:solidFill>
            <a:prstDash val="solid"/>
          </a:ln>
        </p:spPr>
      </p:sp>
      <p:sp>
        <p:nvSpPr>
          <p:cNvPr id="37" name="Text 35"/>
          <p:cNvSpPr txBox="1"/>
          <p:nvPr/>
        </p:nvSpPr>
        <p:spPr>
          <a:xfrm>
            <a:off x="822960" y="5193792"/>
            <a:ext cx="10515600" cy="292608"/>
          </a:xfrm>
          <a:prstGeom prst="rect">
            <a:avLst/>
          </a:prstGeom>
          <a:noFill/>
          <a:ln/>
        </p:spPr>
        <p:txBody>
          <a:bodyPr wrap="square" lIns="0" tIns="0" rIns="0" bIns="0" rtlCol="0" anchor="ctr"/>
          <a:lstStyle/>
          <a:p>
            <a:pPr marL="0" indent="0">
              <a:buNone/>
            </a:pPr>
            <a:r>
              <a:rPr lang="en-US" sz="1150" b="1" dirty="0">
                <a:solidFill>
                  <a:srgbClr val="0F2833"/>
                </a:solidFill>
                <a:latin typeface="Calibri" pitchFamily="34" charset="0"/>
                <a:ea typeface="Calibri" pitchFamily="34" charset="-122"/>
                <a:cs typeface="Calibri" pitchFamily="34" charset="-120"/>
              </a:rPr>
              <a:t>A custom consumer group runs alongside the sinks in its own group — applying business logic and writing late-trip alerts.</a:t>
            </a:r>
            <a:endParaRPr lang="en-US" sz="1150" dirty="0"/>
          </a:p>
        </p:txBody>
      </p:sp>
      <p:sp>
        <p:nvSpPr>
          <p:cNvPr id="38" name="Text 36"/>
          <p:cNvSpPr txBox="1"/>
          <p:nvPr/>
        </p:nvSpPr>
        <p:spPr>
          <a:xfrm>
            <a:off x="822960" y="5504688"/>
            <a:ext cx="10515600" cy="566928"/>
          </a:xfrm>
          <a:prstGeom prst="rect">
            <a:avLst/>
          </a:prstGeom>
          <a:noFill/>
          <a:ln/>
        </p:spPr>
        <p:txBody>
          <a:bodyPr wrap="square" lIns="0" tIns="0" rIns="0" bIns="0" rtlCol="0" anchor="ctr"/>
          <a:lstStyle/>
          <a:p>
            <a:pPr>
              <a:spcAft>
                <a:spcPts val="400"/>
              </a:spcAft>
            </a:pPr>
            <a:r>
              <a:rPr lang="en-US" sz="1250" dirty="0">
                <a:solidFill>
                  <a:srgbClr val="6E828C"/>
                </a:solidFill>
                <a:latin typeface="Calibri" pitchFamily="34" charset="0"/>
                <a:ea typeface="Calibri" pitchFamily="34" charset="-122"/>
                <a:cs typeface="Calibri" pitchFamily="34" charset="-120"/>
              </a:rPr>
              <a:t>One topic, read three ways by three independent consumers. That fan-out is why the producer never writes twice — and why one sink can fail without affecting the others, which is exactly what happened to us.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11155680" cy="502920"/>
          </a:xfrm>
          <a:prstGeom prst="rect">
            <a:avLst/>
          </a:prstGeom>
          <a:noFill/>
          <a:ln/>
        </p:spPr>
        <p:txBody>
          <a:bodyPr wrap="square" lIns="0" tIns="0" rIns="0" bIns="0" rtlCol="0" anchor="ctr"/>
          <a:lstStyle/>
          <a:p>
            <a:pPr marL="0" indent="0">
              <a:buNone/>
            </a:pPr>
            <a:r>
              <a:rPr lang="en-US" sz="2700" b="1" dirty="0">
                <a:solidFill>
                  <a:srgbClr val="0F2833"/>
                </a:solidFill>
                <a:latin typeface="Cambria" pitchFamily="34" charset="0"/>
                <a:ea typeface="Cambria" pitchFamily="34" charset="-122"/>
                <a:cs typeface="Cambria" pitchFamily="34" charset="-120"/>
              </a:rPr>
              <a:t>Scale reached</a:t>
            </a:r>
            <a:endParaRPr lang="en-US" sz="2700" dirty="0"/>
          </a:p>
        </p:txBody>
      </p:sp>
      <p:sp>
        <p:nvSpPr>
          <p:cNvPr id="3" name="Text 1"/>
          <p:cNvSpPr txBox="1"/>
          <p:nvPr/>
        </p:nvSpPr>
        <p:spPr>
          <a:xfrm>
            <a:off x="502920" y="822960"/>
            <a:ext cx="11155680" cy="292608"/>
          </a:xfrm>
          <a:prstGeom prst="rect">
            <a:avLst/>
          </a:prstGeom>
          <a:noFill/>
          <a:ln/>
        </p:spPr>
        <p:txBody>
          <a:bodyPr wrap="square" lIns="0" tIns="0" rIns="0" bIns="0" rtlCol="0" anchor="ctr"/>
          <a:lstStyle/>
          <a:p>
            <a:pPr marL="0" indent="0">
              <a:buNone/>
            </a:pPr>
            <a:r>
              <a:rPr lang="en-US" sz="1200" dirty="0">
                <a:solidFill>
                  <a:srgbClr val="6E828C"/>
                </a:solidFill>
                <a:latin typeface="Calibri" pitchFamily="34" charset="0"/>
                <a:ea typeface="Calibri" pitchFamily="34" charset="-122"/>
                <a:cs typeface="Calibri" pitchFamily="34" charset="-120"/>
              </a:rPr>
              <a:t>Volume, velocity and variety — each demonstrable, not asserted</a:t>
            </a:r>
            <a:endParaRPr lang="en-US" sz="1200" dirty="0"/>
          </a:p>
        </p:txBody>
      </p:sp>
      <p:sp>
        <p:nvSpPr>
          <p:cNvPr id="4" name="Shape 2"/>
          <p:cNvSpPr/>
          <p:nvPr/>
        </p:nvSpPr>
        <p:spPr>
          <a:xfrm>
            <a:off x="502920" y="1234440"/>
            <a:ext cx="3611880" cy="1371600"/>
          </a:xfrm>
          <a:prstGeom prst="roundRect">
            <a:avLst>
              <a:gd name="adj" fmla="val 3333"/>
            </a:avLst>
          </a:prstGeom>
          <a:solidFill>
            <a:srgbClr val="2A6B5F"/>
          </a:solidFill>
          <a:ln/>
        </p:spPr>
      </p:sp>
      <p:sp>
        <p:nvSpPr>
          <p:cNvPr id="5" name="Text 3"/>
          <p:cNvSpPr txBox="1"/>
          <p:nvPr/>
        </p:nvSpPr>
        <p:spPr>
          <a:xfrm>
            <a:off x="685800" y="1380744"/>
            <a:ext cx="3246120" cy="512064"/>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2.39M</a:t>
            </a:r>
            <a:endParaRPr lang="en-US" sz="2800" dirty="0"/>
          </a:p>
        </p:txBody>
      </p:sp>
      <p:sp>
        <p:nvSpPr>
          <p:cNvPr id="6" name="Text 4"/>
          <p:cNvSpPr txBox="1"/>
          <p:nvPr/>
        </p:nvSpPr>
        <p:spPr>
          <a:xfrm>
            <a:off x="685800" y="1901952"/>
            <a:ext cx="3246120" cy="237744"/>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Trip events ingested</a:t>
            </a:r>
            <a:endParaRPr lang="en-US" sz="1100" dirty="0"/>
          </a:p>
        </p:txBody>
      </p:sp>
      <p:sp>
        <p:nvSpPr>
          <p:cNvPr id="7" name="Text 5"/>
          <p:cNvSpPr txBox="1"/>
          <p:nvPr/>
        </p:nvSpPr>
        <p:spPr>
          <a:xfrm>
            <a:off x="685800" y="2139696"/>
            <a:ext cx="3246120" cy="36576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end to end through every stage</a:t>
            </a:r>
            <a:endParaRPr lang="en-US" sz="900" dirty="0"/>
          </a:p>
        </p:txBody>
      </p:sp>
      <p:sp>
        <p:nvSpPr>
          <p:cNvPr id="8" name="Shape 6"/>
          <p:cNvSpPr/>
          <p:nvPr/>
        </p:nvSpPr>
        <p:spPr>
          <a:xfrm>
            <a:off x="4279392" y="1234440"/>
            <a:ext cx="3611880" cy="1371600"/>
          </a:xfrm>
          <a:prstGeom prst="roundRect">
            <a:avLst>
              <a:gd name="adj" fmla="val 3333"/>
            </a:avLst>
          </a:prstGeom>
          <a:solidFill>
            <a:srgbClr val="16303B"/>
          </a:solidFill>
          <a:ln/>
        </p:spPr>
      </p:sp>
      <p:sp>
        <p:nvSpPr>
          <p:cNvPr id="9" name="Text 7"/>
          <p:cNvSpPr txBox="1"/>
          <p:nvPr/>
        </p:nvSpPr>
        <p:spPr>
          <a:xfrm>
            <a:off x="4462272" y="1380744"/>
            <a:ext cx="3246120" cy="512064"/>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3</a:t>
            </a:r>
            <a:endParaRPr lang="en-US" sz="2800" dirty="0"/>
          </a:p>
        </p:txBody>
      </p:sp>
      <p:sp>
        <p:nvSpPr>
          <p:cNvPr id="10" name="Text 8"/>
          <p:cNvSpPr txBox="1"/>
          <p:nvPr/>
        </p:nvSpPr>
        <p:spPr>
          <a:xfrm>
            <a:off x="4462272" y="1901952"/>
            <a:ext cx="3246120" cy="237744"/>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Kafka partitions</a:t>
            </a:r>
            <a:endParaRPr lang="en-US" sz="1100" dirty="0"/>
          </a:p>
        </p:txBody>
      </p:sp>
      <p:sp>
        <p:nvSpPr>
          <p:cNvPr id="11" name="Text 9"/>
          <p:cNvSpPr txBox="1"/>
          <p:nvPr/>
        </p:nvSpPr>
        <p:spPr>
          <a:xfrm>
            <a:off x="4462272" y="2139696"/>
            <a:ext cx="3246120" cy="36576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keyed by driver_id, offsets tracked</a:t>
            </a:r>
            <a:endParaRPr lang="en-US" sz="900" dirty="0"/>
          </a:p>
        </p:txBody>
      </p:sp>
      <p:sp>
        <p:nvSpPr>
          <p:cNvPr id="12" name="Shape 10"/>
          <p:cNvSpPr/>
          <p:nvPr/>
        </p:nvSpPr>
        <p:spPr>
          <a:xfrm>
            <a:off x="8046720" y="1234440"/>
            <a:ext cx="3611880" cy="1371600"/>
          </a:xfrm>
          <a:prstGeom prst="roundRect">
            <a:avLst>
              <a:gd name="adj" fmla="val 3333"/>
            </a:avLst>
          </a:prstGeom>
          <a:solidFill>
            <a:srgbClr val="C08A1E"/>
          </a:solidFill>
          <a:ln/>
        </p:spPr>
      </p:sp>
      <p:sp>
        <p:nvSpPr>
          <p:cNvPr id="13" name="Text 11"/>
          <p:cNvSpPr txBox="1"/>
          <p:nvPr/>
        </p:nvSpPr>
        <p:spPr>
          <a:xfrm>
            <a:off x="8229600" y="1380744"/>
            <a:ext cx="3246120" cy="512064"/>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172.6 MB</a:t>
            </a:r>
            <a:endParaRPr lang="en-US" sz="2800" dirty="0"/>
          </a:p>
        </p:txBody>
      </p:sp>
      <p:sp>
        <p:nvSpPr>
          <p:cNvPr id="14" name="Text 12"/>
          <p:cNvSpPr txBox="1"/>
          <p:nvPr/>
        </p:nvSpPr>
        <p:spPr>
          <a:xfrm>
            <a:off x="8229600" y="1901952"/>
            <a:ext cx="3246120" cy="237744"/>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Parquet in HDFS</a:t>
            </a:r>
            <a:endParaRPr lang="en-US" sz="1100" dirty="0"/>
          </a:p>
        </p:txBody>
      </p:sp>
      <p:sp>
        <p:nvSpPr>
          <p:cNvPr id="15" name="Text 13"/>
          <p:cNvSpPr txBox="1"/>
          <p:nvPr/>
        </p:nvSpPr>
        <p:spPr>
          <a:xfrm>
            <a:off x="8229600" y="2139696"/>
            <a:ext cx="3246120" cy="36576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vs 517.7 MB as text — 3.0x smaller</a:t>
            </a:r>
            <a:endParaRPr lang="en-US" sz="900" dirty="0"/>
          </a:p>
        </p:txBody>
      </p:sp>
      <p:pic>
        <p:nvPicPr>
          <p:cNvPr id="16" name="Image 0" descr="fig_rebalance.png"/>
          <p:cNvPicPr>
            <a:picLocks noChangeAspect="1"/>
          </p:cNvPicPr>
          <p:nvPr/>
        </p:nvPicPr>
        <p:blipFill>
          <a:blip r:embed="rId3"/>
          <a:stretch>
            <a:fillRect/>
          </a:stretch>
        </p:blipFill>
        <p:spPr>
          <a:xfrm>
            <a:off x="502920" y="2880360"/>
            <a:ext cx="11155680" cy="1965960"/>
          </a:xfrm>
          <a:prstGeom prst="rect">
            <a:avLst/>
          </a:prstGeom>
        </p:spPr>
      </p:pic>
      <p:sp>
        <p:nvSpPr>
          <p:cNvPr id="17" name="Text 14"/>
          <p:cNvSpPr txBox="1"/>
          <p:nvPr/>
        </p:nvSpPr>
        <p:spPr>
          <a:xfrm>
            <a:off x="502920" y="4892040"/>
            <a:ext cx="11155680" cy="457200"/>
          </a:xfrm>
          <a:prstGeom prst="rect">
            <a:avLst/>
          </a:prstGeom>
          <a:noFill/>
          <a:ln/>
        </p:spPr>
        <p:txBody>
          <a:bodyPr wrap="square" lIns="0" tIns="0" rIns="0" bIns="0" rtlCol="0" anchor="ctr"/>
          <a:lstStyle/>
          <a:p>
            <a:pPr marL="0" indent="0">
              <a:buNone/>
            </a:pPr>
            <a:r>
              <a:rPr lang="en-US" sz="950" i="1" dirty="0">
                <a:solidFill>
                  <a:srgbClr val="6E828C"/>
                </a:solidFill>
                <a:latin typeface="Calibri" pitchFamily="34" charset="0"/>
                <a:ea typeface="Calibri" pitchFamily="34" charset="-122"/>
                <a:cs typeface="Calibri" pitchFamily="34" charset="-120"/>
              </a:rPr>
              <a:t>After one consumer leaves the group, a single consumer ID owns all three partitions. Lag of 4, 3 and 1 shows the survivor keeping pace with the producer in near-real-time.</a:t>
            </a:r>
            <a:endParaRPr lang="en-US" sz="950" dirty="0"/>
          </a:p>
        </p:txBody>
      </p:sp>
      <p:sp>
        <p:nvSpPr>
          <p:cNvPr id="18" name="Shape 15"/>
          <p:cNvSpPr/>
          <p:nvPr/>
        </p:nvSpPr>
        <p:spPr>
          <a:xfrm>
            <a:off x="502920" y="5440680"/>
            <a:ext cx="11155680" cy="804672"/>
          </a:xfrm>
          <a:prstGeom prst="roundRect">
            <a:avLst>
              <a:gd name="adj" fmla="val 5682"/>
            </a:avLst>
          </a:prstGeom>
          <a:solidFill>
            <a:srgbClr val="0F2833"/>
          </a:solidFill>
          <a:ln w="12700">
            <a:solidFill>
              <a:srgbClr val="E1E7EA"/>
            </a:solidFill>
            <a:prstDash val="solid"/>
          </a:ln>
        </p:spPr>
      </p:sp>
      <p:sp>
        <p:nvSpPr>
          <p:cNvPr id="19" name="Text 16"/>
          <p:cNvSpPr txBox="1"/>
          <p:nvPr/>
        </p:nvSpPr>
        <p:spPr>
          <a:xfrm>
            <a:off x="822960" y="5577840"/>
            <a:ext cx="3200400" cy="274320"/>
          </a:xfrm>
          <a:prstGeom prst="rect">
            <a:avLst/>
          </a:prstGeom>
          <a:noFill/>
          <a:ln/>
        </p:spPr>
        <p:txBody>
          <a:bodyPr wrap="square" lIns="0" tIns="0" rIns="0" bIns="0" rtlCol="0" anchor="ctr"/>
          <a:lstStyle/>
          <a:p>
            <a:pPr marL="0" indent="0">
              <a:buNone/>
            </a:pPr>
            <a:r>
              <a:rPr lang="en-US" sz="1200" b="1" dirty="0">
                <a:solidFill>
                  <a:srgbClr val="C08A1E"/>
                </a:solidFill>
                <a:latin typeface="Calibri" pitchFamily="34" charset="0"/>
                <a:ea typeface="Calibri" pitchFamily="34" charset="-122"/>
                <a:cs typeface="Calibri" pitchFamily="34" charset="-120"/>
              </a:rPr>
              <a:t>Velocity is a knob, not a claim:</a:t>
            </a:r>
            <a:endParaRPr lang="en-US" sz="1200" dirty="0"/>
          </a:p>
        </p:txBody>
      </p:sp>
      <p:sp>
        <p:nvSpPr>
          <p:cNvPr id="20" name="Text 17"/>
          <p:cNvSpPr txBox="1"/>
          <p:nvPr/>
        </p:nvSpPr>
        <p:spPr>
          <a:xfrm>
            <a:off x="4023360" y="5541264"/>
            <a:ext cx="7315200" cy="54864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the generator's rate is an environment variable. Change it live and Kafka offsets, MariaDB rows and HDFS size all accelerate together.</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11155680" cy="502920"/>
          </a:xfrm>
          <a:prstGeom prst="rect">
            <a:avLst/>
          </a:prstGeom>
          <a:noFill/>
          <a:ln/>
        </p:spPr>
        <p:txBody>
          <a:bodyPr wrap="square" lIns="0" tIns="0" rIns="0" bIns="0" rtlCol="0" anchor="ctr"/>
          <a:lstStyle/>
          <a:p>
            <a:pPr marL="0" indent="0">
              <a:buNone/>
            </a:pPr>
            <a:r>
              <a:rPr lang="en-US" sz="2700" b="1" dirty="0">
                <a:solidFill>
                  <a:srgbClr val="0F2833"/>
                </a:solidFill>
                <a:latin typeface="Cambria" pitchFamily="34" charset="0"/>
                <a:ea typeface="Cambria" pitchFamily="34" charset="-122"/>
                <a:cs typeface="Cambria" pitchFamily="34" charset="-120"/>
              </a:rPr>
              <a:t>Why records land where they do</a:t>
            </a:r>
            <a:endParaRPr lang="en-US" sz="2700" dirty="0"/>
          </a:p>
        </p:txBody>
      </p:sp>
      <p:sp>
        <p:nvSpPr>
          <p:cNvPr id="3" name="Text 1"/>
          <p:cNvSpPr txBox="1"/>
          <p:nvPr/>
        </p:nvSpPr>
        <p:spPr>
          <a:xfrm>
            <a:off x="502920" y="822960"/>
            <a:ext cx="11155680" cy="292608"/>
          </a:xfrm>
          <a:prstGeom prst="rect">
            <a:avLst/>
          </a:prstGeom>
          <a:noFill/>
          <a:ln/>
        </p:spPr>
        <p:txBody>
          <a:bodyPr wrap="square" lIns="0" tIns="0" rIns="0" bIns="0" rtlCol="0" anchor="ctr"/>
          <a:lstStyle/>
          <a:p>
            <a:pPr marL="0" indent="0">
              <a:buNone/>
            </a:pPr>
            <a:r>
              <a:rPr lang="en-US" sz="1200" dirty="0">
                <a:solidFill>
                  <a:srgbClr val="6E828C"/>
                </a:solidFill>
                <a:latin typeface="Calibri" pitchFamily="34" charset="0"/>
                <a:ea typeface="Calibri" pitchFamily="34" charset="-122"/>
                <a:cs typeface="Calibri" pitchFamily="34" charset="-120"/>
              </a:rPr>
              <a:t>The partitioning strategy, and the trade-off it buys</a:t>
            </a:r>
            <a:endParaRPr lang="en-US" sz="1200" dirty="0"/>
          </a:p>
        </p:txBody>
      </p:sp>
      <p:sp>
        <p:nvSpPr>
          <p:cNvPr id="4" name="Shape 2"/>
          <p:cNvSpPr/>
          <p:nvPr/>
        </p:nvSpPr>
        <p:spPr>
          <a:xfrm>
            <a:off x="502920" y="1234440"/>
            <a:ext cx="11155680" cy="658368"/>
          </a:xfrm>
          <a:prstGeom prst="roundRect">
            <a:avLst>
              <a:gd name="adj" fmla="val 6944"/>
            </a:avLst>
          </a:prstGeom>
          <a:solidFill>
            <a:srgbClr val="EEF2F3"/>
          </a:solidFill>
          <a:ln w="12700">
            <a:solidFill>
              <a:srgbClr val="E1E7EA"/>
            </a:solidFill>
            <a:prstDash val="solid"/>
          </a:ln>
        </p:spPr>
      </p:sp>
      <p:sp>
        <p:nvSpPr>
          <p:cNvPr id="5" name="Text 3"/>
          <p:cNvSpPr txBox="1"/>
          <p:nvPr/>
        </p:nvSpPr>
        <p:spPr>
          <a:xfrm>
            <a:off x="822960" y="1371600"/>
            <a:ext cx="10515600" cy="411480"/>
          </a:xfrm>
          <a:prstGeom prst="rect">
            <a:avLst/>
          </a:prstGeom>
          <a:noFill/>
          <a:ln/>
        </p:spPr>
        <p:txBody>
          <a:bodyPr wrap="square" lIns="0" tIns="0" rIns="0" bIns="0" rtlCol="0" anchor="ctr"/>
          <a:lstStyle/>
          <a:p>
            <a:pPr>
              <a:spcAft>
                <a:spcPts val="400"/>
              </a:spcAft>
            </a:pPr>
            <a:r>
              <a:rPr lang="en-US" sz="1400" dirty="0">
                <a:solidFill>
                  <a:srgbClr val="16323F"/>
                </a:solidFill>
                <a:latin typeface="Calibri" pitchFamily="34" charset="0"/>
                <a:ea typeface="Calibri" pitchFamily="34" charset="-122"/>
                <a:cs typeface="Calibri" pitchFamily="34" charset="-120"/>
              </a:rPr>
              <a:t>The Kafka message key is driver_id. Kafka hashes that key and takes the remainder over the partition count — so every event from one driver always lands on the same partition.</a:t>
            </a:r>
            <a:endParaRPr lang="en-US" sz="1400" dirty="0"/>
          </a:p>
        </p:txBody>
      </p:sp>
      <p:sp>
        <p:nvSpPr>
          <p:cNvPr id="6" name="Text 4"/>
          <p:cNvSpPr txBox="1"/>
          <p:nvPr/>
        </p:nvSpPr>
        <p:spPr>
          <a:xfrm>
            <a:off x="502920" y="2084832"/>
            <a:ext cx="5303520" cy="274320"/>
          </a:xfrm>
          <a:prstGeom prst="rect">
            <a:avLst/>
          </a:prstGeom>
          <a:noFill/>
          <a:ln/>
        </p:spPr>
        <p:txBody>
          <a:bodyPr wrap="square" lIns="0" tIns="0" rIns="0" bIns="0" rtlCol="0" anchor="ctr"/>
          <a:lstStyle/>
          <a:p>
            <a:pPr marL="0" indent="0">
              <a:buNone/>
            </a:pPr>
            <a:r>
              <a:rPr lang="en-US" sz="1400" b="1" dirty="0">
                <a:solidFill>
                  <a:srgbClr val="2A6B5F"/>
                </a:solidFill>
                <a:latin typeface="Calibri" pitchFamily="34" charset="0"/>
                <a:ea typeface="Calibri" pitchFamily="34" charset="-122"/>
                <a:cs typeface="Calibri" pitchFamily="34" charset="-120"/>
              </a:rPr>
              <a:t>Why this key</a:t>
            </a:r>
            <a:endParaRPr lang="en-US" sz="1400" dirty="0"/>
          </a:p>
        </p:txBody>
      </p:sp>
      <p:sp>
        <p:nvSpPr>
          <p:cNvPr id="7" name="Text 5"/>
          <p:cNvSpPr txBox="1"/>
          <p:nvPr/>
        </p:nvSpPr>
        <p:spPr>
          <a:xfrm>
            <a:off x="502920" y="2395728"/>
            <a:ext cx="5303520" cy="1325880"/>
          </a:xfrm>
          <a:prstGeom prst="rect">
            <a:avLst/>
          </a:prstGeom>
          <a:noFill/>
          <a:ln/>
        </p:spPr>
        <p:txBody>
          <a:bodyPr wrap="square" lIns="0" tIns="0" rIns="0" bIns="0" rtlCol="0" anchor="ctr"/>
          <a:lstStyle/>
          <a:p>
            <a:pPr marL="342900" indent="-342900">
              <a:spcAft>
                <a:spcPts val="600"/>
              </a:spcAft>
              <a:buSzPct val="100000"/>
              <a:buChar char="•"/>
            </a:pPr>
            <a:r>
              <a:rPr lang="en-US" sz="1150" dirty="0">
                <a:solidFill>
                  <a:srgbClr val="6E828C"/>
                </a:solidFill>
                <a:latin typeface="Calibri" pitchFamily="34" charset="0"/>
                <a:ea typeface="Calibri" pitchFamily="34" charset="-122"/>
                <a:cs typeface="Calibri" pitchFamily="34" charset="-120"/>
              </a:rPr>
              <a:t>Kafka guarantees ordering only WITHIN a partition.</a:t>
            </a:r>
            <a:endParaRPr lang="en-US" sz="1150" dirty="0"/>
          </a:p>
          <a:p>
            <a:pPr marL="342900" indent="-342900">
              <a:spcAft>
                <a:spcPts val="600"/>
              </a:spcAft>
              <a:buSzPct val="100000"/>
              <a:buChar char="•"/>
            </a:pPr>
            <a:r>
              <a:rPr lang="en-US" sz="1150" dirty="0">
                <a:solidFill>
                  <a:srgbClr val="6E828C"/>
                </a:solidFill>
                <a:latin typeface="Calibri" pitchFamily="34" charset="0"/>
                <a:ea typeface="Calibri" pitchFamily="34" charset="-122"/>
                <a:cs typeface="Calibri" pitchFamily="34" charset="-120"/>
              </a:rPr>
              <a:t>A driver cannot start trip 2 before finishing trip 1 — per-driver ordering is what the domain needs.</a:t>
            </a:r>
            <a:endParaRPr lang="en-US" sz="1150" dirty="0"/>
          </a:p>
          <a:p>
            <a:pPr marL="342900" indent="-342900">
              <a:spcAft>
                <a:spcPts val="600"/>
              </a:spcAft>
              <a:buSzPct val="100000"/>
              <a:buChar char="•"/>
            </a:pPr>
            <a:r>
              <a:rPr lang="en-US" sz="1150" dirty="0">
                <a:solidFill>
                  <a:srgbClr val="6E828C"/>
                </a:solidFill>
                <a:latin typeface="Calibri" pitchFamily="34" charset="0"/>
                <a:ea typeface="Calibri" pitchFamily="34" charset="-122"/>
                <a:cs typeface="Calibri" pitchFamily="34" charset="-120"/>
              </a:rPr>
              <a:t>Ordering across different drivers is not required, which is what makes 3 partitions safe.</a:t>
            </a:r>
            <a:endParaRPr lang="en-US" sz="1150" dirty="0"/>
          </a:p>
        </p:txBody>
      </p:sp>
      <p:sp>
        <p:nvSpPr>
          <p:cNvPr id="8" name="Text 6"/>
          <p:cNvSpPr txBox="1"/>
          <p:nvPr/>
        </p:nvSpPr>
        <p:spPr>
          <a:xfrm>
            <a:off x="6355080" y="2084832"/>
            <a:ext cx="5303520" cy="274320"/>
          </a:xfrm>
          <a:prstGeom prst="rect">
            <a:avLst/>
          </a:prstGeom>
          <a:noFill/>
          <a:ln/>
        </p:spPr>
        <p:txBody>
          <a:bodyPr wrap="square" lIns="0" tIns="0" rIns="0" bIns="0" rtlCol="0" anchor="ctr"/>
          <a:lstStyle/>
          <a:p>
            <a:pPr marL="0" indent="0">
              <a:buNone/>
            </a:pPr>
            <a:r>
              <a:rPr lang="en-US" sz="1400" b="1" dirty="0">
                <a:solidFill>
                  <a:srgbClr val="B0472F"/>
                </a:solidFill>
                <a:latin typeface="Calibri" pitchFamily="34" charset="0"/>
                <a:ea typeface="Calibri" pitchFamily="34" charset="-122"/>
                <a:cs typeface="Calibri" pitchFamily="34" charset="-120"/>
              </a:rPr>
              <a:t>Alternatives rejected</a:t>
            </a:r>
            <a:endParaRPr lang="en-US" sz="1400" dirty="0"/>
          </a:p>
        </p:txBody>
      </p:sp>
      <p:sp>
        <p:nvSpPr>
          <p:cNvPr id="9" name="Text 7"/>
          <p:cNvSpPr txBox="1"/>
          <p:nvPr/>
        </p:nvSpPr>
        <p:spPr>
          <a:xfrm>
            <a:off x="6355080" y="2395728"/>
            <a:ext cx="5303520" cy="1325880"/>
          </a:xfrm>
          <a:prstGeom prst="rect">
            <a:avLst/>
          </a:prstGeom>
          <a:noFill/>
          <a:ln/>
        </p:spPr>
        <p:txBody>
          <a:bodyPr wrap="square" lIns="0" tIns="0" rIns="0" bIns="0" rtlCol="0" anchor="ctr"/>
          <a:lstStyle/>
          <a:p>
            <a:pPr marL="342900" indent="-342900">
              <a:spcAft>
                <a:spcPts val="500"/>
              </a:spcAft>
              <a:buSzPct val="100000"/>
              <a:buChar char="•"/>
            </a:pPr>
            <a:r>
              <a:rPr lang="en-US" sz="1150" dirty="0">
                <a:solidFill>
                  <a:srgbClr val="6E828C"/>
                </a:solidFill>
                <a:latin typeface="Calibri" pitchFamily="34" charset="0"/>
                <a:ea typeface="Calibri" pitchFamily="34" charset="-122"/>
                <a:cs typeface="Calibri" pitchFamily="34" charset="-120"/>
              </a:rPr>
              <a:t>key = trip_id: perfect spread, no useful ordering </a:t>
            </a:r>
            <a:r>
              <a:rPr lang="en-US" sz="1150" dirty="0" smtClean="0">
                <a:solidFill>
                  <a:srgbClr val="6E828C"/>
                </a:solidFill>
                <a:latin typeface="Calibri" pitchFamily="34" charset="0"/>
                <a:ea typeface="Calibri" pitchFamily="34" charset="-122"/>
                <a:cs typeface="Calibri" pitchFamily="34" charset="-120"/>
              </a:rPr>
              <a:t>— </a:t>
            </a:r>
            <a:r>
              <a:rPr lang="en-US" sz="1150" dirty="0">
                <a:solidFill>
                  <a:srgbClr val="6E828C"/>
                </a:solidFill>
                <a:latin typeface="Calibri" pitchFamily="34" charset="0"/>
                <a:ea typeface="Calibri" pitchFamily="34" charset="-122"/>
                <a:cs typeface="Calibri" pitchFamily="34" charset="-120"/>
              </a:rPr>
              <a:t>every trip is unique.</a:t>
            </a:r>
            <a:endParaRPr lang="en-US" sz="1150" dirty="0"/>
          </a:p>
          <a:p>
            <a:pPr marL="342900" indent="-342900">
              <a:spcAft>
                <a:spcPts val="500"/>
              </a:spcAft>
              <a:buSzPct val="100000"/>
              <a:buChar char="•"/>
            </a:pPr>
            <a:r>
              <a:rPr lang="en-US" sz="1150" dirty="0">
                <a:solidFill>
                  <a:srgbClr val="6E828C"/>
                </a:solidFill>
                <a:latin typeface="Calibri" pitchFamily="34" charset="0"/>
                <a:ea typeface="Calibri" pitchFamily="34" charset="-122"/>
                <a:cs typeface="Calibri" pitchFamily="34" charset="-120"/>
              </a:rPr>
              <a:t>no key: round-robin, ordering lost entirely.</a:t>
            </a:r>
            <a:endParaRPr lang="en-US" sz="1150" dirty="0"/>
          </a:p>
          <a:p>
            <a:pPr marL="342900" indent="-342900">
              <a:spcAft>
                <a:spcPts val="500"/>
              </a:spcAft>
              <a:buSzPct val="100000"/>
              <a:buChar char="•"/>
            </a:pPr>
            <a:r>
              <a:rPr lang="en-US" sz="1150" dirty="0">
                <a:solidFill>
                  <a:srgbClr val="6E828C"/>
                </a:solidFill>
                <a:latin typeface="Calibri" pitchFamily="34" charset="0"/>
                <a:ea typeface="Calibri" pitchFamily="34" charset="-122"/>
                <a:cs typeface="Calibri" pitchFamily="34" charset="-120"/>
              </a:rPr>
              <a:t>Cost of our choice: skew. 60 keys over 3 partitions left partition 1 with roughly double the traffic.</a:t>
            </a:r>
            <a:endParaRPr lang="en-US" sz="1150" dirty="0"/>
          </a:p>
        </p:txBody>
      </p:sp>
      <p:sp>
        <p:nvSpPr>
          <p:cNvPr id="11" name="Text 8"/>
          <p:cNvSpPr txBox="1"/>
          <p:nvPr/>
        </p:nvSpPr>
        <p:spPr>
          <a:xfrm>
            <a:off x="822960" y="5596128"/>
            <a:ext cx="10393680" cy="995680"/>
          </a:xfrm>
          <a:prstGeom prst="rect">
            <a:avLst/>
          </a:prstGeom>
          <a:noFill/>
          <a:ln/>
        </p:spPr>
        <p:txBody>
          <a:bodyPr wrap="square" lIns="0" tIns="0" rIns="0" bIns="0" rtlCol="0" anchor="ctr"/>
          <a:lstStyle/>
          <a:p>
            <a:pPr marL="342900" indent="-342900">
              <a:spcAft>
                <a:spcPts val="600"/>
              </a:spcAft>
              <a:buSzPct val="100000"/>
              <a:buChar char="•"/>
            </a:pPr>
            <a:r>
              <a:rPr lang="en-US" sz="1250" dirty="0">
                <a:solidFill>
                  <a:srgbClr val="6E828C"/>
                </a:solidFill>
                <a:latin typeface="Calibri" pitchFamily="34" charset="0"/>
                <a:ea typeface="Calibri" pitchFamily="34" charset="-122"/>
                <a:cs typeface="Calibri" pitchFamily="34" charset="-120"/>
              </a:rPr>
              <a:t>Both D0001 messages landed on partition 0 at consecutive offsets — the same key always goes to the same partition, and stays in order.</a:t>
            </a:r>
            <a:endParaRPr lang="en-US" sz="1250" dirty="0"/>
          </a:p>
          <a:p>
            <a:pPr marL="342900" indent="-342900">
              <a:spcAft>
                <a:spcPts val="600"/>
              </a:spcAft>
              <a:buSzPct val="100000"/>
              <a:buChar char="•"/>
            </a:pPr>
            <a:r>
              <a:rPr lang="en-US" sz="1250" dirty="0">
                <a:solidFill>
                  <a:srgbClr val="6E828C"/>
                </a:solidFill>
                <a:latin typeface="Calibri" pitchFamily="34" charset="0"/>
                <a:ea typeface="Calibri" pitchFamily="34" charset="-122"/>
                <a:cs typeface="Calibri" pitchFamily="34" charset="-120"/>
              </a:rPr>
              <a:t>D0007 and D0042 sharing partition 1 shows each partition holds many drivers, which is why the load does not divide evenly.</a:t>
            </a:r>
            <a:endParaRPr lang="en-US" sz="1250" dirty="0"/>
          </a:p>
        </p:txBody>
      </p:sp>
      <p:sp>
        <p:nvSpPr>
          <p:cNvPr id="12" name="Shape 9"/>
          <p:cNvSpPr/>
          <p:nvPr/>
        </p:nvSpPr>
        <p:spPr>
          <a:xfrm>
            <a:off x="6553200" y="3653028"/>
            <a:ext cx="4069080" cy="1751076"/>
          </a:xfrm>
          <a:prstGeom prst="roundRect">
            <a:avLst>
              <a:gd name="adj" fmla="val 2857"/>
            </a:avLst>
          </a:prstGeom>
          <a:solidFill>
            <a:srgbClr val="0F2833"/>
          </a:solidFill>
          <a:ln w="12700">
            <a:solidFill>
              <a:srgbClr val="E1E7EA"/>
            </a:solidFill>
            <a:prstDash val="solid"/>
          </a:ln>
        </p:spPr>
      </p:sp>
      <p:sp>
        <p:nvSpPr>
          <p:cNvPr id="13" name="Text 10"/>
          <p:cNvSpPr txBox="1"/>
          <p:nvPr/>
        </p:nvSpPr>
        <p:spPr>
          <a:xfrm>
            <a:off x="7845552" y="3913632"/>
            <a:ext cx="3657600" cy="256032"/>
          </a:xfrm>
          <a:prstGeom prst="rect">
            <a:avLst/>
          </a:prstGeom>
          <a:noFill/>
          <a:ln/>
        </p:spPr>
        <p:txBody>
          <a:bodyPr wrap="square" lIns="0" tIns="0" rIns="0" bIns="0" rtlCol="0" anchor="ctr"/>
          <a:lstStyle/>
          <a:p>
            <a:pPr marL="0" indent="0">
              <a:buNone/>
            </a:pPr>
            <a:r>
              <a:rPr lang="en-US" sz="1200" b="1" dirty="0">
                <a:solidFill>
                  <a:srgbClr val="C08A1E"/>
                </a:solidFill>
                <a:latin typeface="Calibri" pitchFamily="34" charset="0"/>
                <a:ea typeface="Calibri" pitchFamily="34" charset="-122"/>
                <a:cs typeface="Calibri" pitchFamily="34" charset="-120"/>
              </a:rPr>
              <a:t>Verified, not assumed</a:t>
            </a:r>
            <a:endParaRPr lang="en-US" sz="1200" dirty="0"/>
          </a:p>
        </p:txBody>
      </p:sp>
      <p:sp>
        <p:nvSpPr>
          <p:cNvPr id="14" name="Text 11"/>
          <p:cNvSpPr txBox="1"/>
          <p:nvPr/>
        </p:nvSpPr>
        <p:spPr>
          <a:xfrm>
            <a:off x="7845552" y="4206240"/>
            <a:ext cx="3657600" cy="868680"/>
          </a:xfrm>
          <a:prstGeom prst="rect">
            <a:avLst/>
          </a:prstGeom>
          <a:noFill/>
          <a:ln/>
        </p:spPr>
        <p:txBody>
          <a:bodyPr wrap="square" lIns="0" tIns="0" rIns="0" bIns="0" rtlCol="0" anchor="ctr"/>
          <a:lstStyle/>
          <a:p>
            <a:pPr marL="0" indent="0">
              <a:lnSpc>
                <a:spcPts val="1400"/>
              </a:lnSpc>
              <a:buNone/>
            </a:pPr>
            <a:r>
              <a:rPr lang="en-US" sz="1000" dirty="0">
                <a:solidFill>
                  <a:srgbClr val="FFFFFF"/>
                </a:solidFill>
                <a:latin typeface="Courier New" pitchFamily="34" charset="0"/>
                <a:ea typeface="Courier New" pitchFamily="34" charset="-122"/>
                <a:cs typeface="Courier New" pitchFamily="34" charset="-120"/>
              </a:rPr>
              <a:t>D0001  →  partition 0, offset 0</a:t>
            </a:r>
            <a:endParaRPr lang="en-US" sz="1000" dirty="0"/>
          </a:p>
          <a:p>
            <a:pPr marL="0" indent="0">
              <a:lnSpc>
                <a:spcPts val="1400"/>
              </a:lnSpc>
              <a:buNone/>
            </a:pPr>
            <a:r>
              <a:rPr lang="en-US" sz="1000" dirty="0">
                <a:solidFill>
                  <a:srgbClr val="FFFFFF"/>
                </a:solidFill>
                <a:latin typeface="Courier New" pitchFamily="34" charset="0"/>
                <a:ea typeface="Courier New" pitchFamily="34" charset="-122"/>
                <a:cs typeface="Courier New" pitchFamily="34" charset="-120"/>
              </a:rPr>
              <a:t>D0007  →  partition 1, offset 4</a:t>
            </a:r>
            <a:endParaRPr lang="en-US" sz="1000" dirty="0"/>
          </a:p>
          <a:p>
            <a:pPr marL="0" indent="0">
              <a:lnSpc>
                <a:spcPts val="1400"/>
              </a:lnSpc>
              <a:buNone/>
            </a:pPr>
            <a:r>
              <a:rPr lang="en-US" sz="1000" dirty="0">
                <a:solidFill>
                  <a:srgbClr val="FFFFFF"/>
                </a:solidFill>
                <a:latin typeface="Courier New" pitchFamily="34" charset="0"/>
                <a:ea typeface="Courier New" pitchFamily="34" charset="-122"/>
                <a:cs typeface="Courier New" pitchFamily="34" charset="-120"/>
              </a:rPr>
              <a:t>D0042  →  partition 1, offset 5</a:t>
            </a:r>
            <a:endParaRPr lang="en-US" sz="1000" dirty="0"/>
          </a:p>
          <a:p>
            <a:pPr marL="0" indent="0">
              <a:lnSpc>
                <a:spcPts val="1400"/>
              </a:lnSpc>
              <a:buNone/>
            </a:pPr>
            <a:r>
              <a:rPr lang="en-US" sz="1000" dirty="0">
                <a:solidFill>
                  <a:srgbClr val="FFFFFF"/>
                </a:solidFill>
                <a:latin typeface="Courier New" pitchFamily="34" charset="0"/>
                <a:ea typeface="Courier New" pitchFamily="34" charset="-122"/>
                <a:cs typeface="Courier New" pitchFamily="34" charset="-120"/>
              </a:rPr>
              <a:t>D0001  →  partition 0, offset 1</a:t>
            </a:r>
            <a:endParaRPr lang="en-US" sz="1000" dirty="0"/>
          </a:p>
        </p:txBody>
      </p:sp>
      <p:sp>
        <p:nvSpPr>
          <p:cNvPr id="15" name="Text 12"/>
          <p:cNvSpPr txBox="1"/>
          <p:nvPr/>
        </p:nvSpPr>
        <p:spPr>
          <a:xfrm>
            <a:off x="7845552" y="5074920"/>
            <a:ext cx="3657600" cy="237744"/>
          </a:xfrm>
          <a:prstGeom prst="rect">
            <a:avLst/>
          </a:prstGeom>
          <a:noFill/>
          <a:ln/>
        </p:spPr>
        <p:txBody>
          <a:bodyPr wrap="square" lIns="0" tIns="0" rIns="0" bIns="0" rtlCol="0" anchor="ctr"/>
          <a:lstStyle/>
          <a:p>
            <a:pPr marL="0" indent="0">
              <a:buNone/>
            </a:pPr>
            <a:r>
              <a:rPr lang="en-US" sz="1050" i="1" dirty="0">
                <a:solidFill>
                  <a:srgbClr val="3E9183"/>
                </a:solidFill>
                <a:latin typeface="Calibri" pitchFamily="34" charset="0"/>
                <a:ea typeface="Calibri" pitchFamily="34" charset="-122"/>
                <a:cs typeface="Calibri" pitchFamily="34" charset="-120"/>
              </a:rPr>
              <a:t>Same key, same partition.</a:t>
            </a:r>
            <a:endParaRPr lang="en-US" sz="1050" dirty="0"/>
          </a:p>
        </p:txBody>
      </p:sp>
      <p:sp>
        <p:nvSpPr>
          <p:cNvPr id="16" name="Text 13"/>
          <p:cNvSpPr txBox="1"/>
          <p:nvPr/>
        </p:nvSpPr>
        <p:spPr>
          <a:xfrm>
            <a:off x="502920" y="4458716"/>
            <a:ext cx="9870440" cy="995680"/>
          </a:xfrm>
          <a:prstGeom prst="rect">
            <a:avLst/>
          </a:prstGeom>
          <a:noFill/>
          <a:ln/>
        </p:spPr>
        <p:txBody>
          <a:bodyPr wrap="square" lIns="0" tIns="0" rIns="0" bIns="0" rtlCol="0" anchor="ctr"/>
          <a:lstStyle/>
          <a:p>
            <a:pPr marL="0" indent="0">
              <a:buNone/>
            </a:pP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11155680" cy="502920"/>
          </a:xfrm>
          <a:prstGeom prst="rect">
            <a:avLst/>
          </a:prstGeom>
          <a:noFill/>
          <a:ln/>
        </p:spPr>
        <p:txBody>
          <a:bodyPr wrap="square" lIns="0" tIns="0" rIns="0" bIns="0" rtlCol="0" anchor="ctr"/>
          <a:lstStyle/>
          <a:p>
            <a:pPr marL="0" indent="0">
              <a:buNone/>
            </a:pPr>
            <a:r>
              <a:rPr lang="en-US" sz="2700" b="1" dirty="0">
                <a:solidFill>
                  <a:srgbClr val="0F2833"/>
                </a:solidFill>
                <a:latin typeface="Cambria" pitchFamily="34" charset="0"/>
                <a:ea typeface="Cambria" pitchFamily="34" charset="-122"/>
                <a:cs typeface="Cambria" pitchFamily="34" charset="-120"/>
              </a:rPr>
              <a:t>Consumer group, offsets and delivery guarantees</a:t>
            </a:r>
            <a:endParaRPr lang="en-US" sz="2700" dirty="0"/>
          </a:p>
        </p:txBody>
      </p:sp>
      <p:sp>
        <p:nvSpPr>
          <p:cNvPr id="3" name="Text 1"/>
          <p:cNvSpPr txBox="1"/>
          <p:nvPr/>
        </p:nvSpPr>
        <p:spPr>
          <a:xfrm>
            <a:off x="502920" y="822960"/>
            <a:ext cx="11155680" cy="292608"/>
          </a:xfrm>
          <a:prstGeom prst="rect">
            <a:avLst/>
          </a:prstGeom>
          <a:noFill/>
          <a:ln/>
        </p:spPr>
        <p:txBody>
          <a:bodyPr wrap="square" lIns="0" tIns="0" rIns="0" bIns="0" rtlCol="0" anchor="ctr"/>
          <a:lstStyle/>
          <a:p>
            <a:pPr marL="0" indent="0">
              <a:buNone/>
            </a:pPr>
            <a:r>
              <a:rPr lang="en-US" sz="1200" dirty="0">
                <a:solidFill>
                  <a:srgbClr val="6E828C"/>
                </a:solidFill>
                <a:latin typeface="Calibri" pitchFamily="34" charset="0"/>
                <a:ea typeface="Calibri" pitchFamily="34" charset="-122"/>
                <a:cs typeface="Calibri" pitchFamily="34" charset="-120"/>
              </a:rPr>
              <a:t>Named group trip-workers, run with two instances, manual commits</a:t>
            </a:r>
            <a:endParaRPr lang="en-US" sz="1200" dirty="0"/>
          </a:p>
        </p:txBody>
      </p:sp>
      <p:sp>
        <p:nvSpPr>
          <p:cNvPr id="4" name="Text 2"/>
          <p:cNvSpPr txBox="1"/>
          <p:nvPr/>
        </p:nvSpPr>
        <p:spPr>
          <a:xfrm>
            <a:off x="502920" y="1207008"/>
            <a:ext cx="5394960" cy="274320"/>
          </a:xfrm>
          <a:prstGeom prst="rect">
            <a:avLst/>
          </a:prstGeom>
          <a:noFill/>
          <a:ln/>
        </p:spPr>
        <p:txBody>
          <a:bodyPr wrap="square" lIns="0" tIns="0" rIns="0" bIns="0" rtlCol="0" anchor="ctr"/>
          <a:lstStyle/>
          <a:p>
            <a:pPr marL="0" indent="0">
              <a:buNone/>
            </a:pPr>
            <a:r>
              <a:rPr lang="en-US" sz="1400" b="1" dirty="0">
                <a:solidFill>
                  <a:srgbClr val="0F2833"/>
                </a:solidFill>
                <a:latin typeface="Calibri" pitchFamily="34" charset="0"/>
                <a:ea typeface="Calibri" pitchFamily="34" charset="-122"/>
                <a:cs typeface="Calibri" pitchFamily="34" charset="-120"/>
              </a:rPr>
              <a:t>The commit sequence</a:t>
            </a:r>
            <a:endParaRPr lang="en-US" sz="1400" dirty="0"/>
          </a:p>
        </p:txBody>
      </p:sp>
      <p:sp>
        <p:nvSpPr>
          <p:cNvPr id="5" name="Shape 3"/>
          <p:cNvSpPr/>
          <p:nvPr/>
        </p:nvSpPr>
        <p:spPr>
          <a:xfrm>
            <a:off x="521208" y="1572768"/>
            <a:ext cx="347472" cy="347472"/>
          </a:xfrm>
          <a:prstGeom prst="ellipse">
            <a:avLst/>
          </a:prstGeom>
          <a:solidFill>
            <a:srgbClr val="2A6B5F"/>
          </a:solidFill>
          <a:ln/>
        </p:spPr>
      </p:sp>
      <p:sp>
        <p:nvSpPr>
          <p:cNvPr id="6" name="Text 4"/>
          <p:cNvSpPr txBox="1"/>
          <p:nvPr/>
        </p:nvSpPr>
        <p:spPr>
          <a:xfrm>
            <a:off x="521208" y="1572768"/>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1024128" y="1600200"/>
            <a:ext cx="4846320" cy="292608"/>
          </a:xfrm>
          <a:prstGeom prst="rect">
            <a:avLst/>
          </a:prstGeom>
          <a:noFill/>
          <a:ln/>
        </p:spPr>
        <p:txBody>
          <a:bodyPr wrap="square" lIns="0" tIns="0" rIns="0" bIns="0" rtlCol="0" anchor="ctr"/>
          <a:lstStyle/>
          <a:p>
            <a:pPr marL="0" indent="0">
              <a:buNone/>
            </a:pPr>
            <a:r>
              <a:rPr lang="en-US" sz="1200" dirty="0">
                <a:solidFill>
                  <a:srgbClr val="6E828C"/>
                </a:solidFill>
                <a:latin typeface="Calibri" pitchFamily="34" charset="0"/>
                <a:ea typeface="Calibri" pitchFamily="34" charset="-122"/>
                <a:cs typeface="Calibri" pitchFamily="34" charset="-120"/>
              </a:rPr>
              <a:t>Poll a batch of records</a:t>
            </a:r>
            <a:endParaRPr lang="en-US" sz="1200" dirty="0"/>
          </a:p>
        </p:txBody>
      </p:sp>
      <p:sp>
        <p:nvSpPr>
          <p:cNvPr id="8" name="Shape 6"/>
          <p:cNvSpPr/>
          <p:nvPr/>
        </p:nvSpPr>
        <p:spPr>
          <a:xfrm>
            <a:off x="521208" y="2048256"/>
            <a:ext cx="347472" cy="347472"/>
          </a:xfrm>
          <a:prstGeom prst="ellipse">
            <a:avLst/>
          </a:prstGeom>
          <a:solidFill>
            <a:srgbClr val="2A6B5F"/>
          </a:solidFill>
          <a:ln/>
        </p:spPr>
      </p:sp>
      <p:sp>
        <p:nvSpPr>
          <p:cNvPr id="9" name="Text 7"/>
          <p:cNvSpPr txBox="1"/>
          <p:nvPr/>
        </p:nvSpPr>
        <p:spPr>
          <a:xfrm>
            <a:off x="521208" y="2048256"/>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Text 8"/>
          <p:cNvSpPr txBox="1"/>
          <p:nvPr/>
        </p:nvSpPr>
        <p:spPr>
          <a:xfrm>
            <a:off x="1024128" y="2075688"/>
            <a:ext cx="4846320" cy="292608"/>
          </a:xfrm>
          <a:prstGeom prst="rect">
            <a:avLst/>
          </a:prstGeom>
          <a:noFill/>
          <a:ln/>
        </p:spPr>
        <p:txBody>
          <a:bodyPr wrap="square" lIns="0" tIns="0" rIns="0" bIns="0" rtlCol="0" anchor="ctr"/>
          <a:lstStyle/>
          <a:p>
            <a:pPr marL="0" indent="0">
              <a:buNone/>
            </a:pPr>
            <a:r>
              <a:rPr lang="en-US" sz="1200" dirty="0">
                <a:solidFill>
                  <a:srgbClr val="6E828C"/>
                </a:solidFill>
                <a:latin typeface="Calibri" pitchFamily="34" charset="0"/>
                <a:ea typeface="Calibri" pitchFamily="34" charset="-122"/>
                <a:cs typeface="Calibri" pitchFamily="34" charset="-120"/>
              </a:rPr>
              <a:t>Apply business logic, write alerts</a:t>
            </a:r>
            <a:endParaRPr lang="en-US" sz="1200" dirty="0"/>
          </a:p>
        </p:txBody>
      </p:sp>
      <p:sp>
        <p:nvSpPr>
          <p:cNvPr id="11" name="Shape 9"/>
          <p:cNvSpPr/>
          <p:nvPr/>
        </p:nvSpPr>
        <p:spPr>
          <a:xfrm>
            <a:off x="521208" y="2523744"/>
            <a:ext cx="347472" cy="347472"/>
          </a:xfrm>
          <a:prstGeom prst="ellipse">
            <a:avLst/>
          </a:prstGeom>
          <a:solidFill>
            <a:srgbClr val="2A6B5F"/>
          </a:solidFill>
          <a:ln/>
        </p:spPr>
      </p:sp>
      <p:sp>
        <p:nvSpPr>
          <p:cNvPr id="12" name="Text 10"/>
          <p:cNvSpPr txBox="1"/>
          <p:nvPr/>
        </p:nvSpPr>
        <p:spPr>
          <a:xfrm>
            <a:off x="521208" y="2523744"/>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3" name="Text 11"/>
          <p:cNvSpPr txBox="1"/>
          <p:nvPr/>
        </p:nvSpPr>
        <p:spPr>
          <a:xfrm>
            <a:off x="1024128" y="2551176"/>
            <a:ext cx="4846320" cy="292608"/>
          </a:xfrm>
          <a:prstGeom prst="rect">
            <a:avLst/>
          </a:prstGeom>
          <a:noFill/>
          <a:ln/>
        </p:spPr>
        <p:txBody>
          <a:bodyPr wrap="square" lIns="0" tIns="0" rIns="0" bIns="0" rtlCol="0" anchor="ctr"/>
          <a:lstStyle/>
          <a:p>
            <a:pPr marL="0" indent="0">
              <a:buNone/>
            </a:pPr>
            <a:r>
              <a:rPr lang="en-US" sz="1200" dirty="0">
                <a:solidFill>
                  <a:srgbClr val="6E828C"/>
                </a:solidFill>
                <a:latin typeface="Calibri" pitchFamily="34" charset="0"/>
                <a:ea typeface="Calibri" pitchFamily="34" charset="-122"/>
                <a:cs typeface="Calibri" pitchFamily="34" charset="-120"/>
              </a:rPr>
              <a:t>Commit the database transaction</a:t>
            </a:r>
            <a:endParaRPr lang="en-US" sz="1200" dirty="0"/>
          </a:p>
        </p:txBody>
      </p:sp>
      <p:sp>
        <p:nvSpPr>
          <p:cNvPr id="14" name="Shape 12"/>
          <p:cNvSpPr/>
          <p:nvPr/>
        </p:nvSpPr>
        <p:spPr>
          <a:xfrm>
            <a:off x="521208" y="2999232"/>
            <a:ext cx="347472" cy="347472"/>
          </a:xfrm>
          <a:prstGeom prst="ellipse">
            <a:avLst/>
          </a:prstGeom>
          <a:solidFill>
            <a:srgbClr val="C08A1E"/>
          </a:solidFill>
          <a:ln/>
        </p:spPr>
      </p:sp>
      <p:sp>
        <p:nvSpPr>
          <p:cNvPr id="15" name="Text 13"/>
          <p:cNvSpPr txBox="1"/>
          <p:nvPr/>
        </p:nvSpPr>
        <p:spPr>
          <a:xfrm>
            <a:off x="521208" y="2999232"/>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6" name="Text 14"/>
          <p:cNvSpPr txBox="1"/>
          <p:nvPr/>
        </p:nvSpPr>
        <p:spPr>
          <a:xfrm>
            <a:off x="1024128" y="3026664"/>
            <a:ext cx="4846320" cy="292608"/>
          </a:xfrm>
          <a:prstGeom prst="rect">
            <a:avLst/>
          </a:prstGeom>
          <a:noFill/>
          <a:ln/>
        </p:spPr>
        <p:txBody>
          <a:bodyPr wrap="square" lIns="0" tIns="0" rIns="0" bIns="0" rtlCol="0" anchor="ctr"/>
          <a:lstStyle/>
          <a:p>
            <a:pPr marL="0" indent="0">
              <a:buNone/>
            </a:pPr>
            <a:r>
              <a:rPr lang="en-US" sz="1200" b="1" dirty="0">
                <a:solidFill>
                  <a:srgbClr val="0F2833"/>
                </a:solidFill>
                <a:latin typeface="Calibri" pitchFamily="34" charset="0"/>
                <a:ea typeface="Calibri" pitchFamily="34" charset="-122"/>
                <a:cs typeface="Calibri" pitchFamily="34" charset="-120"/>
              </a:rPr>
              <a:t>Commit Kafka offsets </a:t>
            </a:r>
            <a:r>
              <a:rPr lang="en-US" sz="1200" b="1" dirty="0" smtClean="0">
                <a:solidFill>
                  <a:srgbClr val="0F2833"/>
                </a:solidFill>
                <a:latin typeface="Calibri" pitchFamily="34" charset="0"/>
                <a:ea typeface="Calibri" pitchFamily="34" charset="-122"/>
                <a:cs typeface="Calibri" pitchFamily="34" charset="-120"/>
              </a:rPr>
              <a:t>— </a:t>
            </a:r>
            <a:r>
              <a:rPr lang="en-US" sz="1200" b="1" dirty="0">
                <a:solidFill>
                  <a:srgbClr val="0F2833"/>
                </a:solidFill>
                <a:latin typeface="Calibri" pitchFamily="34" charset="0"/>
                <a:ea typeface="Calibri" pitchFamily="34" charset="-122"/>
                <a:cs typeface="Calibri" pitchFamily="34" charset="-120"/>
              </a:rPr>
              <a:t>last</a:t>
            </a:r>
            <a:endParaRPr lang="en-US" sz="1200" dirty="0"/>
          </a:p>
        </p:txBody>
      </p:sp>
      <p:sp>
        <p:nvSpPr>
          <p:cNvPr id="17" name="Text 15"/>
          <p:cNvSpPr txBox="1"/>
          <p:nvPr/>
        </p:nvSpPr>
        <p:spPr>
          <a:xfrm>
            <a:off x="502920" y="3547872"/>
            <a:ext cx="5394960" cy="411480"/>
          </a:xfrm>
          <a:prstGeom prst="rect">
            <a:avLst/>
          </a:prstGeom>
          <a:noFill/>
          <a:ln/>
        </p:spPr>
        <p:txBody>
          <a:bodyPr wrap="square" lIns="0" tIns="0" rIns="0" bIns="0" rtlCol="0" anchor="ctr"/>
          <a:lstStyle/>
          <a:p>
            <a:pPr marL="0" indent="0">
              <a:buNone/>
            </a:pPr>
            <a:r>
              <a:rPr lang="en-US" sz="1100" i="1" dirty="0">
                <a:solidFill>
                  <a:srgbClr val="6E828C"/>
                </a:solidFill>
                <a:latin typeface="Calibri" pitchFamily="34" charset="0"/>
                <a:ea typeface="Calibri" pitchFamily="34" charset="-122"/>
                <a:cs typeface="Calibri" pitchFamily="34" charset="-120"/>
              </a:rPr>
              <a:t>Work first, commit second. A crash in between means the record is re-read — never lost.</a:t>
            </a:r>
            <a:endParaRPr lang="en-US" sz="1100" dirty="0"/>
          </a:p>
        </p:txBody>
      </p:sp>
      <p:sp>
        <p:nvSpPr>
          <p:cNvPr id="18" name="Shape 16"/>
          <p:cNvSpPr/>
          <p:nvPr/>
        </p:nvSpPr>
        <p:spPr>
          <a:xfrm>
            <a:off x="6355080" y="1207008"/>
            <a:ext cx="5303520" cy="2834640"/>
          </a:xfrm>
          <a:prstGeom prst="roundRect">
            <a:avLst>
              <a:gd name="adj" fmla="val 1613"/>
            </a:avLst>
          </a:prstGeom>
          <a:solidFill>
            <a:srgbClr val="EEF2F3"/>
          </a:solidFill>
          <a:ln w="12700">
            <a:solidFill>
              <a:srgbClr val="E1E7EA"/>
            </a:solidFill>
            <a:prstDash val="solid"/>
          </a:ln>
        </p:spPr>
      </p:sp>
      <p:sp>
        <p:nvSpPr>
          <p:cNvPr id="19" name="Text 17"/>
          <p:cNvSpPr txBox="1"/>
          <p:nvPr/>
        </p:nvSpPr>
        <p:spPr>
          <a:xfrm>
            <a:off x="6583680" y="1325880"/>
            <a:ext cx="4846320" cy="274320"/>
          </a:xfrm>
          <a:prstGeom prst="rect">
            <a:avLst/>
          </a:prstGeom>
          <a:noFill/>
          <a:ln/>
        </p:spPr>
        <p:txBody>
          <a:bodyPr wrap="square" lIns="0" tIns="0" rIns="0" bIns="0" rtlCol="0" anchor="ctr"/>
          <a:lstStyle/>
          <a:p>
            <a:pPr>
              <a:spcAft>
                <a:spcPts val="200"/>
              </a:spcAft>
            </a:pPr>
            <a:r>
              <a:rPr lang="en-US" sz="1600" b="1" dirty="0">
                <a:solidFill>
                  <a:srgbClr val="16323F"/>
                </a:solidFill>
                <a:latin typeface="Calibri" pitchFamily="34" charset="0"/>
                <a:ea typeface="Calibri" pitchFamily="34" charset="-122"/>
                <a:cs typeface="Calibri" pitchFamily="34" charset="-120"/>
              </a:rPr>
              <a:t>Two guarantees, one system</a:t>
            </a:r>
            <a:endParaRPr lang="en-US" sz="1600" dirty="0"/>
          </a:p>
        </p:txBody>
      </p:sp>
      <p:sp>
        <p:nvSpPr>
          <p:cNvPr id="20" name="Text 18"/>
          <p:cNvSpPr txBox="1"/>
          <p:nvPr/>
        </p:nvSpPr>
        <p:spPr>
          <a:xfrm>
            <a:off x="6583680" y="1664208"/>
            <a:ext cx="4846320" cy="2194560"/>
          </a:xfrm>
          <a:prstGeom prst="rect">
            <a:avLst/>
          </a:prstGeom>
          <a:noFill/>
          <a:ln/>
        </p:spPr>
        <p:txBody>
          <a:bodyPr wrap="square" lIns="0" tIns="0" rIns="0" bIns="0" rtlCol="0" anchor="ctr"/>
          <a:lstStyle/>
          <a:p>
            <a:pPr marL="342900" indent="-342900">
              <a:spcAft>
                <a:spcPts val="600"/>
              </a:spcAft>
              <a:buSzPct val="100000"/>
              <a:buChar char="•"/>
            </a:pPr>
            <a:r>
              <a:rPr lang="en-US" sz="1150" dirty="0">
                <a:solidFill>
                  <a:srgbClr val="6E828C"/>
                </a:solidFill>
                <a:latin typeface="Calibri" pitchFamily="34" charset="0"/>
                <a:ea typeface="Calibri" pitchFamily="34" charset="-122"/>
                <a:cs typeface="Calibri" pitchFamily="34" charset="-120"/>
              </a:rPr>
              <a:t>Our consumer is at-least-once. It does the work first and tells Kafka afterwards, so a crash in between means the record is read again — harmless, because writing the same trip twice overwrites the old row.</a:t>
            </a:r>
            <a:endParaRPr lang="en-US" sz="1150" dirty="0"/>
          </a:p>
          <a:p>
            <a:pPr marL="342900" indent="-342900">
              <a:spcAft>
                <a:spcPts val="600"/>
              </a:spcAft>
              <a:buSzPct val="100000"/>
              <a:buChar char="•"/>
            </a:pPr>
            <a:r>
              <a:rPr lang="en-US" sz="1150" dirty="0">
                <a:solidFill>
                  <a:srgbClr val="6E828C"/>
                </a:solidFill>
                <a:latin typeface="Calibri" pitchFamily="34" charset="0"/>
                <a:ea typeface="Calibri" pitchFamily="34" charset="-122"/>
                <a:cs typeface="Calibri" pitchFamily="34" charset="-120"/>
              </a:rPr>
              <a:t>The HDFS sink goes further — it never writes the same record twice. Each file is named after the exact range of records inside it, so after a crash it resumes at that boundary.</a:t>
            </a:r>
            <a:endParaRPr lang="en-US" sz="1150" dirty="0"/>
          </a:p>
          <a:p>
            <a:pPr marL="342900" indent="-342900">
              <a:spcAft>
                <a:spcPts val="600"/>
              </a:spcAft>
              <a:buSzPct val="100000"/>
              <a:buChar char="•"/>
            </a:pPr>
            <a:r>
              <a:rPr lang="en-US" sz="1150" dirty="0">
                <a:solidFill>
                  <a:srgbClr val="6E828C"/>
                </a:solidFill>
                <a:latin typeface="Calibri" pitchFamily="34" charset="0"/>
                <a:ea typeface="Calibri" pitchFamily="34" charset="-122"/>
                <a:cs typeface="Calibri" pitchFamily="34" charset="-120"/>
              </a:rPr>
              <a:t>Committing before the work would be at-most-once: faster, no duplicates, but a crash loses those records for good.</a:t>
            </a:r>
            <a:endParaRPr lang="en-US" sz="1150" dirty="0"/>
          </a:p>
          <a:p>
            <a:pPr marL="342900" indent="-342900">
              <a:spcAft>
                <a:spcPts val="600"/>
              </a:spcAft>
              <a:buSzPct val="100000"/>
              <a:buChar char="•"/>
            </a:pPr>
            <a:r>
              <a:rPr lang="en-US" sz="1150" dirty="0">
                <a:solidFill>
                  <a:srgbClr val="6E828C"/>
                </a:solidFill>
                <a:latin typeface="Calibri" pitchFamily="34" charset="0"/>
                <a:ea typeface="Calibri" pitchFamily="34" charset="-122"/>
                <a:cs typeface="Calibri" pitchFamily="34" charset="-120"/>
              </a:rPr>
              <a:t>Repeating work is recoverable. Losing it is not.</a:t>
            </a:r>
            <a:endParaRPr lang="en-US" sz="1150" dirty="0"/>
          </a:p>
        </p:txBody>
      </p:sp>
      <p:sp>
        <p:nvSpPr>
          <p:cNvPr id="21" name="Shape 19"/>
          <p:cNvSpPr/>
          <p:nvPr/>
        </p:nvSpPr>
        <p:spPr>
          <a:xfrm>
            <a:off x="502920" y="4206240"/>
            <a:ext cx="11155680" cy="960120"/>
          </a:xfrm>
          <a:prstGeom prst="roundRect">
            <a:avLst>
              <a:gd name="adj" fmla="val 4762"/>
            </a:avLst>
          </a:prstGeom>
          <a:solidFill>
            <a:srgbClr val="0F2833"/>
          </a:solidFill>
          <a:ln w="12700">
            <a:solidFill>
              <a:srgbClr val="E1E7EA"/>
            </a:solidFill>
            <a:prstDash val="solid"/>
          </a:ln>
        </p:spPr>
      </p:sp>
      <p:sp>
        <p:nvSpPr>
          <p:cNvPr id="22" name="Text 20"/>
          <p:cNvSpPr txBox="1"/>
          <p:nvPr/>
        </p:nvSpPr>
        <p:spPr>
          <a:xfrm>
            <a:off x="822960" y="4352544"/>
            <a:ext cx="2194560" cy="256032"/>
          </a:xfrm>
          <a:prstGeom prst="rect">
            <a:avLst/>
          </a:prstGeom>
          <a:noFill/>
          <a:ln/>
        </p:spPr>
        <p:txBody>
          <a:bodyPr wrap="square" lIns="0" tIns="0" rIns="0" bIns="0" rtlCol="0" anchor="ctr"/>
          <a:lstStyle/>
          <a:p>
            <a:pPr marL="0" indent="0">
              <a:buNone/>
            </a:pPr>
            <a:r>
              <a:rPr lang="en-US" sz="1200" b="1" dirty="0">
                <a:solidFill>
                  <a:srgbClr val="C08A1E"/>
                </a:solidFill>
                <a:latin typeface="Calibri" pitchFamily="34" charset="0"/>
                <a:ea typeface="Calibri" pitchFamily="34" charset="-122"/>
                <a:cs typeface="Calibri" pitchFamily="34" charset="-120"/>
              </a:rPr>
              <a:t>Proved by accident:</a:t>
            </a:r>
            <a:endParaRPr lang="en-US" sz="1200" dirty="0"/>
          </a:p>
        </p:txBody>
      </p:sp>
      <p:sp>
        <p:nvSpPr>
          <p:cNvPr id="23" name="Text 21"/>
          <p:cNvSpPr txBox="1"/>
          <p:nvPr/>
        </p:nvSpPr>
        <p:spPr>
          <a:xfrm>
            <a:off x="2971800" y="4315968"/>
            <a:ext cx="8366760" cy="658368"/>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the consumer crashed on a malformed record left by an earlier console-producer test. On restart it resumed from its committed offsets — {0: 749, 1: 0, 2: 749} </a:t>
            </a:r>
            <a:r>
              <a:rPr lang="en-US" sz="1150" dirty="0" smtClean="0">
                <a:solidFill>
                  <a:srgbClr val="FFFFFF"/>
                </a:solidFill>
                <a:latin typeface="Calibri" pitchFamily="34" charset="0"/>
                <a:ea typeface="Calibri" pitchFamily="34" charset="-122"/>
                <a:cs typeface="Calibri" pitchFamily="34" charset="-120"/>
              </a:rPr>
              <a:t>— </a:t>
            </a:r>
            <a:r>
              <a:rPr lang="en-US" sz="1150" dirty="0">
                <a:solidFill>
                  <a:srgbClr val="FFFFFF"/>
                </a:solidFill>
                <a:latin typeface="Calibri" pitchFamily="34" charset="0"/>
                <a:ea typeface="Calibri" pitchFamily="34" charset="-122"/>
                <a:cs typeface="Calibri" pitchFamily="34" charset="-120"/>
              </a:rPr>
              <a:t>not from zero. Nothing lost, nothing reprocessed.</a:t>
            </a:r>
            <a:endParaRPr lang="en-US" sz="1150" dirty="0"/>
          </a:p>
        </p:txBody>
      </p:sp>
      <p:sp>
        <p:nvSpPr>
          <p:cNvPr id="24" name="Shape 22"/>
          <p:cNvSpPr/>
          <p:nvPr/>
        </p:nvSpPr>
        <p:spPr>
          <a:xfrm>
            <a:off x="502920" y="5349240"/>
            <a:ext cx="3520440" cy="896112"/>
          </a:xfrm>
          <a:prstGeom prst="roundRect">
            <a:avLst>
              <a:gd name="adj" fmla="val 5102"/>
            </a:avLst>
          </a:prstGeom>
          <a:solidFill>
            <a:srgbClr val="EEF2F3"/>
          </a:solidFill>
          <a:ln w="12700">
            <a:solidFill>
              <a:srgbClr val="E1E7EA"/>
            </a:solidFill>
            <a:prstDash val="solid"/>
          </a:ln>
        </p:spPr>
      </p:sp>
      <p:sp>
        <p:nvSpPr>
          <p:cNvPr id="25" name="Shape 23"/>
          <p:cNvSpPr/>
          <p:nvPr/>
        </p:nvSpPr>
        <p:spPr>
          <a:xfrm>
            <a:off x="502920" y="5349240"/>
            <a:ext cx="50292" cy="896112"/>
          </a:xfrm>
          <a:prstGeom prst="rect">
            <a:avLst/>
          </a:prstGeom>
          <a:solidFill>
            <a:srgbClr val="2A6B5F"/>
          </a:solidFill>
          <a:ln/>
        </p:spPr>
      </p:sp>
      <p:sp>
        <p:nvSpPr>
          <p:cNvPr id="26" name="Text 24"/>
          <p:cNvSpPr txBox="1"/>
          <p:nvPr/>
        </p:nvSpPr>
        <p:spPr>
          <a:xfrm>
            <a:off x="685800" y="5431536"/>
            <a:ext cx="3200400" cy="237744"/>
          </a:xfrm>
          <a:prstGeom prst="rect">
            <a:avLst/>
          </a:prstGeom>
          <a:noFill/>
          <a:ln/>
        </p:spPr>
        <p:txBody>
          <a:bodyPr wrap="square" lIns="0" tIns="0" rIns="0" bIns="0" rtlCol="0" anchor="ctr"/>
          <a:lstStyle/>
          <a:p>
            <a:pPr marL="0" indent="0">
              <a:buNone/>
            </a:pPr>
            <a:r>
              <a:rPr lang="en-US" sz="1100" b="1" dirty="0">
                <a:solidFill>
                  <a:srgbClr val="0F2833"/>
                </a:solidFill>
                <a:latin typeface="Calibri" pitchFamily="34" charset="0"/>
                <a:ea typeface="Calibri" pitchFamily="34" charset="-122"/>
                <a:cs typeface="Calibri" pitchFamily="34" charset="-120"/>
              </a:rPr>
              <a:t>MariaDB outage</a:t>
            </a:r>
            <a:endParaRPr lang="en-US" sz="1100" dirty="0"/>
          </a:p>
        </p:txBody>
      </p:sp>
      <p:sp>
        <p:nvSpPr>
          <p:cNvPr id="27" name="Text 25"/>
          <p:cNvSpPr txBox="1"/>
          <p:nvPr/>
        </p:nvSpPr>
        <p:spPr>
          <a:xfrm>
            <a:off x="685800" y="5669280"/>
            <a:ext cx="3200400" cy="512064"/>
          </a:xfrm>
          <a:prstGeom prst="rect">
            <a:avLst/>
          </a:prstGeom>
          <a:noFill/>
          <a:ln/>
        </p:spPr>
        <p:txBody>
          <a:bodyPr wrap="square" lIns="0" tIns="0" rIns="0" bIns="0" rtlCol="0" anchor="ctr"/>
          <a:lstStyle/>
          <a:p>
            <a:pPr marL="0" indent="0">
              <a:buNone/>
            </a:pPr>
            <a:r>
              <a:rPr lang="en-US" sz="950" dirty="0">
                <a:solidFill>
                  <a:srgbClr val="6E828C"/>
                </a:solidFill>
                <a:latin typeface="Calibri" pitchFamily="34" charset="0"/>
                <a:ea typeface="Calibri" pitchFamily="34" charset="-122"/>
                <a:cs typeface="Calibri" pitchFamily="34" charset="-120"/>
              </a:rPr>
              <a:t>sink stopped, Kafka kept accepting.</a:t>
            </a:r>
            <a:endParaRPr lang="en-US" sz="950" dirty="0"/>
          </a:p>
          <a:p>
            <a:pPr marL="0" indent="0">
              <a:buNone/>
            </a:pPr>
            <a:r>
              <a:rPr lang="en-US" sz="950" dirty="0">
                <a:solidFill>
                  <a:srgbClr val="6E828C"/>
                </a:solidFill>
                <a:latin typeface="Calibri" pitchFamily="34" charset="0"/>
                <a:ea typeface="Calibri" pitchFamily="34" charset="-122"/>
                <a:cs typeface="Calibri" pitchFamily="34" charset="-120"/>
              </a:rPr>
              <a:t>15,000 records drained on restart.</a:t>
            </a:r>
            <a:endParaRPr lang="en-US" sz="950" dirty="0"/>
          </a:p>
        </p:txBody>
      </p:sp>
      <p:sp>
        <p:nvSpPr>
          <p:cNvPr id="28" name="Shape 26"/>
          <p:cNvSpPr/>
          <p:nvPr/>
        </p:nvSpPr>
        <p:spPr>
          <a:xfrm>
            <a:off x="4215384" y="5349240"/>
            <a:ext cx="3520440" cy="896112"/>
          </a:xfrm>
          <a:prstGeom prst="roundRect">
            <a:avLst>
              <a:gd name="adj" fmla="val 5102"/>
            </a:avLst>
          </a:prstGeom>
          <a:solidFill>
            <a:srgbClr val="EEF2F3"/>
          </a:solidFill>
          <a:ln w="12700">
            <a:solidFill>
              <a:srgbClr val="E1E7EA"/>
            </a:solidFill>
            <a:prstDash val="solid"/>
          </a:ln>
        </p:spPr>
      </p:sp>
      <p:sp>
        <p:nvSpPr>
          <p:cNvPr id="29" name="Shape 27"/>
          <p:cNvSpPr/>
          <p:nvPr/>
        </p:nvSpPr>
        <p:spPr>
          <a:xfrm>
            <a:off x="4215384" y="5349240"/>
            <a:ext cx="50292" cy="896112"/>
          </a:xfrm>
          <a:prstGeom prst="rect">
            <a:avLst/>
          </a:prstGeom>
          <a:solidFill>
            <a:srgbClr val="C08A1E"/>
          </a:solidFill>
          <a:ln/>
        </p:spPr>
      </p:sp>
      <p:sp>
        <p:nvSpPr>
          <p:cNvPr id="30" name="Text 28"/>
          <p:cNvSpPr txBox="1"/>
          <p:nvPr/>
        </p:nvSpPr>
        <p:spPr>
          <a:xfrm>
            <a:off x="4398264" y="5431536"/>
            <a:ext cx="3200400" cy="237744"/>
          </a:xfrm>
          <a:prstGeom prst="rect">
            <a:avLst/>
          </a:prstGeom>
          <a:noFill/>
          <a:ln/>
        </p:spPr>
        <p:txBody>
          <a:bodyPr wrap="square" lIns="0" tIns="0" rIns="0" bIns="0" rtlCol="0" anchor="ctr"/>
          <a:lstStyle/>
          <a:p>
            <a:pPr marL="0" indent="0">
              <a:buNone/>
            </a:pPr>
            <a:r>
              <a:rPr lang="en-US" sz="1100" b="1" dirty="0">
                <a:solidFill>
                  <a:srgbClr val="0F2833"/>
                </a:solidFill>
                <a:latin typeface="Calibri" pitchFamily="34" charset="0"/>
                <a:ea typeface="Calibri" pitchFamily="34" charset="-122"/>
                <a:cs typeface="Calibri" pitchFamily="34" charset="-120"/>
              </a:rPr>
              <a:t>Unclosed HDFS lease</a:t>
            </a:r>
            <a:endParaRPr lang="en-US" sz="1100" dirty="0"/>
          </a:p>
        </p:txBody>
      </p:sp>
      <p:sp>
        <p:nvSpPr>
          <p:cNvPr id="31" name="Text 29"/>
          <p:cNvSpPr txBox="1"/>
          <p:nvPr/>
        </p:nvSpPr>
        <p:spPr>
          <a:xfrm>
            <a:off x="4398264" y="5669280"/>
            <a:ext cx="3200400" cy="512064"/>
          </a:xfrm>
          <a:prstGeom prst="rect">
            <a:avLst/>
          </a:prstGeom>
          <a:noFill/>
          <a:ln/>
        </p:spPr>
        <p:txBody>
          <a:bodyPr wrap="square" lIns="0" tIns="0" rIns="0" bIns="0" rtlCol="0" anchor="ctr"/>
          <a:lstStyle/>
          <a:p>
            <a:pPr marL="0" indent="0">
              <a:buNone/>
            </a:pPr>
            <a:r>
              <a:rPr lang="en-US" sz="950" dirty="0">
                <a:solidFill>
                  <a:srgbClr val="6E828C"/>
                </a:solidFill>
                <a:latin typeface="Calibri" pitchFamily="34" charset="0"/>
                <a:ea typeface="Calibri" pitchFamily="34" charset="-122"/>
                <a:cs typeface="Calibri" pitchFamily="34" charset="-120"/>
              </a:rPr>
              <a:t>one sink died, the other lived.</a:t>
            </a:r>
            <a:endParaRPr lang="en-US" sz="950" dirty="0"/>
          </a:p>
          <a:p>
            <a:pPr marL="0" indent="0">
              <a:buNone/>
            </a:pPr>
            <a:r>
              <a:rPr lang="en-US" sz="950" dirty="0">
                <a:solidFill>
                  <a:srgbClr val="6E828C"/>
                </a:solidFill>
                <a:latin typeface="Calibri" pitchFamily="34" charset="0"/>
                <a:ea typeface="Calibri" pitchFamily="34" charset="-122"/>
                <a:cs typeface="Calibri" pitchFamily="34" charset="-120"/>
              </a:rPr>
              <a:t>1,045,459 records replayed.</a:t>
            </a:r>
            <a:endParaRPr lang="en-US" sz="950" dirty="0"/>
          </a:p>
        </p:txBody>
      </p:sp>
      <p:sp>
        <p:nvSpPr>
          <p:cNvPr id="32" name="Shape 30"/>
          <p:cNvSpPr/>
          <p:nvPr/>
        </p:nvSpPr>
        <p:spPr>
          <a:xfrm>
            <a:off x="7927848" y="5349240"/>
            <a:ext cx="3520440" cy="896112"/>
          </a:xfrm>
          <a:prstGeom prst="roundRect">
            <a:avLst>
              <a:gd name="adj" fmla="val 5102"/>
            </a:avLst>
          </a:prstGeom>
          <a:solidFill>
            <a:srgbClr val="EEF2F3"/>
          </a:solidFill>
          <a:ln w="12700">
            <a:solidFill>
              <a:srgbClr val="E1E7EA"/>
            </a:solidFill>
            <a:prstDash val="solid"/>
          </a:ln>
        </p:spPr>
      </p:sp>
      <p:sp>
        <p:nvSpPr>
          <p:cNvPr id="33" name="Shape 31"/>
          <p:cNvSpPr/>
          <p:nvPr/>
        </p:nvSpPr>
        <p:spPr>
          <a:xfrm>
            <a:off x="7927848" y="5349240"/>
            <a:ext cx="50292" cy="896112"/>
          </a:xfrm>
          <a:prstGeom prst="rect">
            <a:avLst/>
          </a:prstGeom>
          <a:solidFill>
            <a:srgbClr val="B0472F"/>
          </a:solidFill>
          <a:ln/>
        </p:spPr>
      </p:sp>
      <p:sp>
        <p:nvSpPr>
          <p:cNvPr id="34" name="Text 32"/>
          <p:cNvSpPr txBox="1"/>
          <p:nvPr/>
        </p:nvSpPr>
        <p:spPr>
          <a:xfrm>
            <a:off x="8110728" y="5431536"/>
            <a:ext cx="3200400" cy="237744"/>
          </a:xfrm>
          <a:prstGeom prst="rect">
            <a:avLst/>
          </a:prstGeom>
          <a:noFill/>
          <a:ln/>
        </p:spPr>
        <p:txBody>
          <a:bodyPr wrap="square" lIns="0" tIns="0" rIns="0" bIns="0" rtlCol="0" anchor="ctr"/>
          <a:lstStyle/>
          <a:p>
            <a:pPr marL="0" indent="0">
              <a:buNone/>
            </a:pPr>
            <a:r>
              <a:rPr lang="en-US" sz="1100" b="1" dirty="0">
                <a:solidFill>
                  <a:srgbClr val="0F2833"/>
                </a:solidFill>
                <a:latin typeface="Calibri" pitchFamily="34" charset="0"/>
                <a:ea typeface="Calibri" pitchFamily="34" charset="-122"/>
                <a:cs typeface="Calibri" pitchFamily="34" charset="-120"/>
              </a:rPr>
              <a:t>Operational store lost</a:t>
            </a:r>
            <a:endParaRPr lang="en-US" sz="1100" dirty="0"/>
          </a:p>
        </p:txBody>
      </p:sp>
      <p:sp>
        <p:nvSpPr>
          <p:cNvPr id="35" name="Text 33"/>
          <p:cNvSpPr txBox="1"/>
          <p:nvPr/>
        </p:nvSpPr>
        <p:spPr>
          <a:xfrm>
            <a:off x="8110728" y="5669280"/>
            <a:ext cx="3200400" cy="512064"/>
          </a:xfrm>
          <a:prstGeom prst="rect">
            <a:avLst/>
          </a:prstGeom>
          <a:noFill/>
          <a:ln/>
        </p:spPr>
        <p:txBody>
          <a:bodyPr wrap="square" lIns="0" tIns="0" rIns="0" bIns="0" rtlCol="0" anchor="ctr"/>
          <a:lstStyle/>
          <a:p>
            <a:pPr marL="0" indent="0">
              <a:buNone/>
            </a:pPr>
            <a:r>
              <a:rPr lang="en-US" sz="950" dirty="0">
                <a:solidFill>
                  <a:srgbClr val="6E828C"/>
                </a:solidFill>
                <a:latin typeface="Calibri" pitchFamily="34" charset="0"/>
                <a:ea typeface="Calibri" pitchFamily="34" charset="-122"/>
                <a:cs typeface="Calibri" pitchFamily="34" charset="-120"/>
              </a:rPr>
              <a:t>full 2.39M-row database rebuilt</a:t>
            </a:r>
            <a:endParaRPr lang="en-US" sz="950" dirty="0"/>
          </a:p>
          <a:p>
            <a:pPr marL="0" indent="0">
              <a:buNone/>
            </a:pPr>
            <a:r>
              <a:rPr lang="en-US" sz="950" dirty="0">
                <a:solidFill>
                  <a:srgbClr val="6E828C"/>
                </a:solidFill>
                <a:latin typeface="Calibri" pitchFamily="34" charset="0"/>
                <a:ea typeface="Calibri" pitchFamily="34" charset="-122"/>
                <a:cs typeface="Calibri" pitchFamily="34" charset="-120"/>
              </a:rPr>
              <a:t>from the log, no manual copying.</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61200"/>
            <a:ext cx="11155680" cy="502920"/>
          </a:xfrm>
          <a:prstGeom prst="rect">
            <a:avLst/>
          </a:prstGeom>
          <a:noFill/>
          <a:ln/>
        </p:spPr>
        <p:txBody>
          <a:bodyPr wrap="square" lIns="0" tIns="0" rIns="0" bIns="0" rtlCol="0" anchor="ctr"/>
          <a:lstStyle/>
          <a:p>
            <a:pPr marL="0" indent="0">
              <a:buNone/>
            </a:pPr>
            <a:r>
              <a:rPr lang="en-US" sz="2700" b="1" dirty="0">
                <a:solidFill>
                  <a:srgbClr val="0F2833"/>
                </a:solidFill>
                <a:latin typeface="Cambria" pitchFamily="34" charset="0"/>
                <a:ea typeface="Cambria" pitchFamily="34" charset="-122"/>
                <a:cs typeface="Cambria" pitchFamily="34" charset="-120"/>
              </a:rPr>
              <a:t>Why HDFS and not just a database</a:t>
            </a:r>
            <a:endParaRPr lang="en-US" sz="2700" dirty="0"/>
          </a:p>
        </p:txBody>
      </p:sp>
      <p:sp>
        <p:nvSpPr>
          <p:cNvPr id="3" name="Text 1"/>
          <p:cNvSpPr txBox="1"/>
          <p:nvPr/>
        </p:nvSpPr>
        <p:spPr>
          <a:xfrm>
            <a:off x="502920" y="822960"/>
            <a:ext cx="11155680" cy="292608"/>
          </a:xfrm>
          <a:prstGeom prst="rect">
            <a:avLst/>
          </a:prstGeom>
          <a:noFill/>
          <a:ln/>
        </p:spPr>
        <p:txBody>
          <a:bodyPr wrap="square" lIns="0" tIns="0" rIns="0" bIns="0" rtlCol="0" anchor="ctr"/>
          <a:lstStyle/>
          <a:p>
            <a:pPr marL="0" indent="0">
              <a:buNone/>
            </a:pPr>
            <a:r>
              <a:rPr lang="en-US" sz="1600" dirty="0">
                <a:solidFill>
                  <a:srgbClr val="6E828C"/>
                </a:solidFill>
                <a:latin typeface="Bookman Old Style" panose="02050604050505020204" pitchFamily="18" charset="0"/>
                <a:ea typeface="Calibri" pitchFamily="34" charset="-122"/>
                <a:cs typeface="Calibri" pitchFamily="34" charset="-120"/>
              </a:rPr>
              <a:t>The question the guidelines ask explicitly</a:t>
            </a:r>
            <a:endParaRPr lang="en-US" sz="1600" dirty="0">
              <a:latin typeface="Bookman Old Style" panose="02050604050505020204" pitchFamily="18" charset="0"/>
            </a:endParaRPr>
          </a:p>
        </p:txBody>
      </p:sp>
      <p:sp>
        <p:nvSpPr>
          <p:cNvPr id="4" name="Shape 2"/>
          <p:cNvSpPr/>
          <p:nvPr/>
        </p:nvSpPr>
        <p:spPr>
          <a:xfrm>
            <a:off x="502920" y="1207008"/>
            <a:ext cx="5257800" cy="685800"/>
          </a:xfrm>
          <a:prstGeom prst="roundRect">
            <a:avLst>
              <a:gd name="adj" fmla="val 6667"/>
            </a:avLst>
          </a:prstGeom>
          <a:solidFill>
            <a:srgbClr val="16303B"/>
          </a:solidFill>
          <a:ln/>
        </p:spPr>
      </p:sp>
      <p:sp>
        <p:nvSpPr>
          <p:cNvPr id="5" name="Text 3"/>
          <p:cNvSpPr txBox="1"/>
          <p:nvPr/>
        </p:nvSpPr>
        <p:spPr>
          <a:xfrm>
            <a:off x="704088" y="1280160"/>
            <a:ext cx="4846320" cy="329184"/>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MariaDB</a:t>
            </a:r>
            <a:endParaRPr lang="en-US" sz="1800" dirty="0"/>
          </a:p>
        </p:txBody>
      </p:sp>
      <p:sp>
        <p:nvSpPr>
          <p:cNvPr id="6" name="Text 4"/>
          <p:cNvSpPr txBox="1"/>
          <p:nvPr/>
        </p:nvSpPr>
        <p:spPr>
          <a:xfrm>
            <a:off x="704088" y="1591056"/>
            <a:ext cx="4846320" cy="237744"/>
          </a:xfrm>
          <a:prstGeom prst="rect">
            <a:avLst/>
          </a:prstGeom>
          <a:noFill/>
          <a:ln/>
        </p:spPr>
        <p:txBody>
          <a:bodyPr wrap="square" lIns="0" tIns="0" rIns="0" bIns="0" rtlCol="0" anchor="ctr"/>
          <a:lstStyle/>
          <a:p>
            <a:pPr marL="0" indent="0">
              <a:buNone/>
            </a:pPr>
            <a:r>
              <a:rPr lang="en-US" sz="1050" dirty="0">
                <a:solidFill>
                  <a:srgbClr val="CFE0DC"/>
                </a:solidFill>
                <a:latin typeface="Calibri" pitchFamily="34" charset="0"/>
                <a:ea typeface="Calibri" pitchFamily="34" charset="-122"/>
                <a:cs typeface="Calibri" pitchFamily="34" charset="-120"/>
              </a:rPr>
              <a:t>Operational</a:t>
            </a:r>
            <a:endParaRPr lang="en-US" sz="1050" dirty="0"/>
          </a:p>
        </p:txBody>
      </p:sp>
      <p:sp>
        <p:nvSpPr>
          <p:cNvPr id="7" name="Text 5"/>
          <p:cNvSpPr txBox="1"/>
          <p:nvPr/>
        </p:nvSpPr>
        <p:spPr>
          <a:xfrm>
            <a:off x="612648" y="2011680"/>
            <a:ext cx="5029200" cy="1554480"/>
          </a:xfrm>
          <a:prstGeom prst="rect">
            <a:avLst/>
          </a:prstGeom>
          <a:noFill/>
          <a:ln/>
        </p:spPr>
        <p:txBody>
          <a:bodyPr wrap="square" lIns="0" tIns="0" rIns="0" bIns="0" rtlCol="0" anchor="ctr"/>
          <a:lstStyle/>
          <a:p>
            <a:pPr marL="342900" indent="-342900">
              <a:spcAft>
                <a:spcPts val="600"/>
              </a:spcAft>
              <a:buSzPct val="100000"/>
              <a:buChar char="•"/>
            </a:pPr>
            <a:r>
              <a:rPr lang="en-US" sz="1600" dirty="0">
                <a:solidFill>
                  <a:srgbClr val="6E828C"/>
                </a:solidFill>
                <a:latin typeface="Times New Roman" panose="02020603050405020304" pitchFamily="18" charset="0"/>
                <a:ea typeface="Calibri" pitchFamily="34" charset="-122"/>
                <a:cs typeface="Times New Roman" panose="02020603050405020304" pitchFamily="18" charset="0"/>
              </a:rPr>
              <a:t>Holds the current state: one row per trip</a:t>
            </a:r>
            <a:endParaRPr lang="en-US" sz="1600" dirty="0">
              <a:latin typeface="Times New Roman" panose="02020603050405020304" pitchFamily="18" charset="0"/>
              <a:cs typeface="Times New Roman" panose="02020603050405020304" pitchFamily="18" charset="0"/>
            </a:endParaRPr>
          </a:p>
          <a:p>
            <a:pPr marL="342900" indent="-342900">
              <a:spcAft>
                <a:spcPts val="600"/>
              </a:spcAft>
              <a:buSzPct val="100000"/>
              <a:buChar char="•"/>
            </a:pPr>
            <a:r>
              <a:rPr lang="en-US" sz="1600" dirty="0">
                <a:solidFill>
                  <a:srgbClr val="6E828C"/>
                </a:solidFill>
                <a:latin typeface="Times New Roman" panose="02020603050405020304" pitchFamily="18" charset="0"/>
                <a:ea typeface="Calibri" pitchFamily="34" charset="-122"/>
                <a:cs typeface="Times New Roman" panose="02020603050405020304" pitchFamily="18" charset="0"/>
              </a:rPr>
              <a:t>Small, fast, indexed lookups</a:t>
            </a:r>
            <a:endParaRPr lang="en-US" sz="1600" dirty="0">
              <a:latin typeface="Times New Roman" panose="02020603050405020304" pitchFamily="18" charset="0"/>
              <a:cs typeface="Times New Roman" panose="02020603050405020304" pitchFamily="18" charset="0"/>
            </a:endParaRPr>
          </a:p>
          <a:p>
            <a:pPr marL="342900" indent="-342900">
              <a:spcAft>
                <a:spcPts val="600"/>
              </a:spcAft>
              <a:buSzPct val="100000"/>
              <a:buChar char="•"/>
            </a:pPr>
            <a:r>
              <a:rPr lang="en-US" sz="1600" dirty="0">
                <a:solidFill>
                  <a:srgbClr val="6E828C"/>
                </a:solidFill>
                <a:latin typeface="Times New Roman" panose="02020603050405020304" pitchFamily="18" charset="0"/>
                <a:ea typeface="Calibri" pitchFamily="34" charset="-122"/>
                <a:cs typeface="Times New Roman" panose="02020603050405020304" pitchFamily="18" charset="0"/>
              </a:rPr>
              <a:t>Powers the dashboard directly</a:t>
            </a:r>
            <a:endParaRPr lang="en-US" sz="1600" dirty="0">
              <a:latin typeface="Times New Roman" panose="02020603050405020304" pitchFamily="18" charset="0"/>
              <a:cs typeface="Times New Roman" panose="02020603050405020304" pitchFamily="18" charset="0"/>
            </a:endParaRPr>
          </a:p>
          <a:p>
            <a:pPr marL="342900" indent="-342900">
              <a:spcAft>
                <a:spcPts val="600"/>
              </a:spcAft>
              <a:buSzPct val="100000"/>
              <a:buChar char="•"/>
            </a:pPr>
            <a:r>
              <a:rPr lang="en-US" sz="1600" dirty="0">
                <a:solidFill>
                  <a:srgbClr val="6E828C"/>
                </a:solidFill>
                <a:latin typeface="Times New Roman" panose="02020603050405020304" pitchFamily="18" charset="0"/>
                <a:ea typeface="Calibri" pitchFamily="34" charset="-122"/>
                <a:cs typeface="Times New Roman" panose="02020603050405020304" pitchFamily="18" charset="0"/>
              </a:rPr>
              <a:t>A full-history scan would lock it and stall the dashboard</a:t>
            </a:r>
            <a:endParaRPr lang="en-US" sz="1600" dirty="0">
              <a:latin typeface="Times New Roman" panose="02020603050405020304" pitchFamily="18" charset="0"/>
              <a:cs typeface="Times New Roman" panose="02020603050405020304" pitchFamily="18" charset="0"/>
            </a:endParaRPr>
          </a:p>
        </p:txBody>
      </p:sp>
      <p:sp>
        <p:nvSpPr>
          <p:cNvPr id="8" name="Shape 6"/>
          <p:cNvSpPr/>
          <p:nvPr/>
        </p:nvSpPr>
        <p:spPr>
          <a:xfrm>
            <a:off x="6309360" y="1207008"/>
            <a:ext cx="5257800" cy="685800"/>
          </a:xfrm>
          <a:prstGeom prst="roundRect">
            <a:avLst>
              <a:gd name="adj" fmla="val 6667"/>
            </a:avLst>
          </a:prstGeom>
          <a:solidFill>
            <a:srgbClr val="2A6B5F"/>
          </a:solidFill>
          <a:ln/>
        </p:spPr>
      </p:sp>
      <p:sp>
        <p:nvSpPr>
          <p:cNvPr id="9" name="Text 7"/>
          <p:cNvSpPr txBox="1"/>
          <p:nvPr/>
        </p:nvSpPr>
        <p:spPr>
          <a:xfrm>
            <a:off x="6510528" y="1280160"/>
            <a:ext cx="4846320" cy="329184"/>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HDFS</a:t>
            </a:r>
            <a:endParaRPr lang="en-US" sz="1800" dirty="0"/>
          </a:p>
        </p:txBody>
      </p:sp>
      <p:sp>
        <p:nvSpPr>
          <p:cNvPr id="10" name="Text 8"/>
          <p:cNvSpPr txBox="1"/>
          <p:nvPr/>
        </p:nvSpPr>
        <p:spPr>
          <a:xfrm>
            <a:off x="6510528" y="1591056"/>
            <a:ext cx="4846320" cy="237744"/>
          </a:xfrm>
          <a:prstGeom prst="rect">
            <a:avLst/>
          </a:prstGeom>
          <a:noFill/>
          <a:ln/>
        </p:spPr>
        <p:txBody>
          <a:bodyPr wrap="square" lIns="0" tIns="0" rIns="0" bIns="0" rtlCol="0" anchor="ctr"/>
          <a:lstStyle/>
          <a:p>
            <a:pPr marL="0" indent="0">
              <a:buNone/>
            </a:pPr>
            <a:r>
              <a:rPr lang="en-US" sz="1050" dirty="0">
                <a:solidFill>
                  <a:srgbClr val="CFE0DC"/>
                </a:solidFill>
                <a:latin typeface="Calibri" pitchFamily="34" charset="0"/>
                <a:ea typeface="Calibri" pitchFamily="34" charset="-122"/>
                <a:cs typeface="Calibri" pitchFamily="34" charset="-120"/>
              </a:rPr>
              <a:t>Historical / analytical</a:t>
            </a:r>
            <a:endParaRPr lang="en-US" sz="1050" dirty="0"/>
          </a:p>
        </p:txBody>
      </p:sp>
      <p:sp>
        <p:nvSpPr>
          <p:cNvPr id="11" name="Text 9"/>
          <p:cNvSpPr txBox="1"/>
          <p:nvPr/>
        </p:nvSpPr>
        <p:spPr>
          <a:xfrm>
            <a:off x="6419088" y="2011680"/>
            <a:ext cx="5029200" cy="1554480"/>
          </a:xfrm>
          <a:prstGeom prst="rect">
            <a:avLst/>
          </a:prstGeom>
          <a:noFill/>
          <a:ln/>
        </p:spPr>
        <p:txBody>
          <a:bodyPr wrap="square" lIns="0" tIns="0" rIns="0" bIns="0" rtlCol="0" anchor="ctr"/>
          <a:lstStyle/>
          <a:p>
            <a:pPr marL="342900" indent="-342900">
              <a:spcAft>
                <a:spcPts val="600"/>
              </a:spcAft>
              <a:buSzPct val="100000"/>
              <a:buChar char="•"/>
            </a:pPr>
            <a:r>
              <a:rPr lang="en-US" sz="1600" dirty="0">
                <a:solidFill>
                  <a:srgbClr val="6E828C"/>
                </a:solidFill>
                <a:latin typeface="Times New Roman" panose="02020603050405020304" pitchFamily="18" charset="0"/>
                <a:ea typeface="Calibri" pitchFamily="34" charset="-122"/>
                <a:cs typeface="Times New Roman" panose="02020603050405020304" pitchFamily="18" charset="0"/>
              </a:rPr>
              <a:t>Every event, append-only, forever</a:t>
            </a:r>
            <a:endParaRPr lang="en-US" sz="1600" dirty="0">
              <a:latin typeface="Times New Roman" panose="02020603050405020304" pitchFamily="18" charset="0"/>
              <a:cs typeface="Times New Roman" panose="02020603050405020304" pitchFamily="18" charset="0"/>
            </a:endParaRPr>
          </a:p>
          <a:p>
            <a:pPr marL="342900" indent="-342900">
              <a:spcAft>
                <a:spcPts val="600"/>
              </a:spcAft>
              <a:buSzPct val="100000"/>
              <a:buChar char="•"/>
            </a:pPr>
            <a:r>
              <a:rPr lang="en-US" sz="1600" dirty="0">
                <a:solidFill>
                  <a:srgbClr val="6E828C"/>
                </a:solidFill>
                <a:latin typeface="Times New Roman" panose="02020603050405020304" pitchFamily="18" charset="0"/>
                <a:ea typeface="Calibri" pitchFamily="34" charset="-122"/>
                <a:cs typeface="Times New Roman" panose="02020603050405020304" pitchFamily="18" charset="0"/>
              </a:rPr>
              <a:t>Large blocks replicated across nodes</a:t>
            </a:r>
            <a:endParaRPr lang="en-US" sz="1600" dirty="0">
              <a:latin typeface="Times New Roman" panose="02020603050405020304" pitchFamily="18" charset="0"/>
              <a:cs typeface="Times New Roman" panose="02020603050405020304" pitchFamily="18" charset="0"/>
            </a:endParaRPr>
          </a:p>
          <a:p>
            <a:pPr marL="342900" indent="-342900">
              <a:spcAft>
                <a:spcPts val="600"/>
              </a:spcAft>
              <a:buSzPct val="100000"/>
              <a:buChar char="•"/>
            </a:pPr>
            <a:r>
              <a:rPr lang="en-US" sz="1600" dirty="0">
                <a:solidFill>
                  <a:srgbClr val="6E828C"/>
                </a:solidFill>
                <a:latin typeface="Times New Roman" panose="02020603050405020304" pitchFamily="18" charset="0"/>
                <a:ea typeface="Calibri" pitchFamily="34" charset="-122"/>
                <a:cs typeface="Times New Roman" panose="02020603050405020304" pitchFamily="18" charset="0"/>
              </a:rPr>
              <a:t>Survives disk or node loss unaided</a:t>
            </a:r>
            <a:endParaRPr lang="en-US" sz="1600" dirty="0">
              <a:latin typeface="Times New Roman" panose="02020603050405020304" pitchFamily="18" charset="0"/>
              <a:cs typeface="Times New Roman" panose="02020603050405020304" pitchFamily="18" charset="0"/>
            </a:endParaRPr>
          </a:p>
          <a:p>
            <a:pPr marL="342900" indent="-342900">
              <a:spcAft>
                <a:spcPts val="600"/>
              </a:spcAft>
              <a:buSzPct val="100000"/>
              <a:buChar char="•"/>
            </a:pPr>
            <a:r>
              <a:rPr lang="en-US" sz="1600" dirty="0">
                <a:solidFill>
                  <a:srgbClr val="6E828C"/>
                </a:solidFill>
                <a:latin typeface="Times New Roman" panose="02020603050405020304" pitchFamily="18" charset="0"/>
                <a:ea typeface="Calibri" pitchFamily="34" charset="-122"/>
                <a:cs typeface="Times New Roman" panose="02020603050405020304" pitchFamily="18" charset="0"/>
              </a:rPr>
              <a:t>Scales by adding nodes, not bigger disks</a:t>
            </a:r>
            <a:endParaRPr lang="en-US" sz="1600" dirty="0">
              <a:latin typeface="Times New Roman" panose="02020603050405020304" pitchFamily="18" charset="0"/>
              <a:cs typeface="Times New Roman" panose="02020603050405020304" pitchFamily="18" charset="0"/>
            </a:endParaRPr>
          </a:p>
          <a:p>
            <a:pPr marL="342900" indent="-342900">
              <a:spcAft>
                <a:spcPts val="600"/>
              </a:spcAft>
              <a:buSzPct val="100000"/>
              <a:buChar char="•"/>
            </a:pPr>
            <a:r>
              <a:rPr lang="en-US" sz="1600" dirty="0">
                <a:solidFill>
                  <a:srgbClr val="6E828C"/>
                </a:solidFill>
                <a:latin typeface="Times New Roman" panose="02020603050405020304" pitchFamily="18" charset="0"/>
                <a:ea typeface="Calibri" pitchFamily="34" charset="-122"/>
                <a:cs typeface="Times New Roman" panose="02020603050405020304" pitchFamily="18" charset="0"/>
              </a:rPr>
              <a:t>Spark reads it in parallel per block</a:t>
            </a:r>
            <a:endParaRPr lang="en-US" sz="1600" dirty="0">
              <a:latin typeface="Times New Roman" panose="02020603050405020304" pitchFamily="18" charset="0"/>
              <a:cs typeface="Times New Roman" panose="02020603050405020304" pitchFamily="18" charset="0"/>
            </a:endParaRPr>
          </a:p>
        </p:txBody>
      </p:sp>
      <p:sp>
        <p:nvSpPr>
          <p:cNvPr id="12" name="Shape 10"/>
          <p:cNvSpPr/>
          <p:nvPr/>
        </p:nvSpPr>
        <p:spPr>
          <a:xfrm>
            <a:off x="502920" y="3703320"/>
            <a:ext cx="11155680" cy="1005840"/>
          </a:xfrm>
          <a:prstGeom prst="roundRect">
            <a:avLst>
              <a:gd name="adj" fmla="val 4545"/>
            </a:avLst>
          </a:prstGeom>
          <a:solidFill>
            <a:srgbClr val="EEF2F3"/>
          </a:solidFill>
          <a:ln w="12700">
            <a:solidFill>
              <a:srgbClr val="E1E7EA"/>
            </a:solidFill>
            <a:prstDash val="solid"/>
          </a:ln>
        </p:spPr>
      </p:sp>
      <p:sp>
        <p:nvSpPr>
          <p:cNvPr id="13" name="Text 11"/>
          <p:cNvSpPr txBox="1"/>
          <p:nvPr/>
        </p:nvSpPr>
        <p:spPr>
          <a:xfrm>
            <a:off x="822960" y="3822192"/>
            <a:ext cx="10424160" cy="256032"/>
          </a:xfrm>
          <a:prstGeom prst="rect">
            <a:avLst/>
          </a:prstGeom>
          <a:noFill/>
          <a:ln/>
        </p:spPr>
        <p:txBody>
          <a:bodyPr wrap="square" lIns="0" tIns="0" rIns="0" bIns="0" rtlCol="0" anchor="ctr"/>
          <a:lstStyle/>
          <a:p>
            <a:pPr marL="0" indent="0">
              <a:buNone/>
            </a:pPr>
            <a:r>
              <a:rPr lang="en-US" sz="1300" b="1" dirty="0">
                <a:solidFill>
                  <a:srgbClr val="0F2833"/>
                </a:solidFill>
                <a:latin typeface="Calibri" pitchFamily="34" charset="0"/>
                <a:ea typeface="Calibri" pitchFamily="34" charset="-122"/>
                <a:cs typeface="Calibri" pitchFamily="34" charset="-120"/>
              </a:rPr>
              <a:t>The filename is the guarantee</a:t>
            </a:r>
            <a:endParaRPr lang="en-US" sz="1300" dirty="0"/>
          </a:p>
        </p:txBody>
      </p:sp>
      <p:sp>
        <p:nvSpPr>
          <p:cNvPr id="14" name="Text 12"/>
          <p:cNvSpPr txBox="1"/>
          <p:nvPr/>
        </p:nvSpPr>
        <p:spPr>
          <a:xfrm>
            <a:off x="822960" y="4096512"/>
            <a:ext cx="10424160" cy="256032"/>
          </a:xfrm>
          <a:prstGeom prst="rect">
            <a:avLst/>
          </a:prstGeom>
          <a:noFill/>
          <a:ln/>
        </p:spPr>
        <p:txBody>
          <a:bodyPr wrap="square" lIns="0" tIns="0" rIns="0" bIns="0" rtlCol="0" anchor="ctr"/>
          <a:lstStyle/>
          <a:p>
            <a:pPr marL="0" indent="0">
              <a:buNone/>
            </a:pPr>
            <a:r>
              <a:rPr lang="en-US" sz="1100" dirty="0">
                <a:solidFill>
                  <a:srgbClr val="2A6B5F"/>
                </a:solidFill>
                <a:latin typeface="Courier New" pitchFamily="34" charset="0"/>
                <a:ea typeface="Courier New" pitchFamily="34" charset="-122"/>
                <a:cs typeface="Courier New" pitchFamily="34" charset="-120"/>
              </a:rPr>
              <a:t>/data/trip-events/dt=2026-09-18/trip-events+0+0000020150+0000020349.parquet</a:t>
            </a:r>
            <a:endParaRPr lang="en-US" sz="1100" dirty="0"/>
          </a:p>
        </p:txBody>
      </p:sp>
      <p:sp>
        <p:nvSpPr>
          <p:cNvPr id="15" name="Text 13"/>
          <p:cNvSpPr txBox="1"/>
          <p:nvPr/>
        </p:nvSpPr>
        <p:spPr>
          <a:xfrm>
            <a:off x="822960" y="4370832"/>
            <a:ext cx="10424160" cy="274320"/>
          </a:xfrm>
          <a:prstGeom prst="rect">
            <a:avLst/>
          </a:prstGeom>
          <a:noFill/>
          <a:ln/>
        </p:spPr>
        <p:txBody>
          <a:bodyPr wrap="square" lIns="0" tIns="0" rIns="0" bIns="0" rtlCol="0" anchor="ctr"/>
          <a:lstStyle/>
          <a:p>
            <a:pPr marL="0" indent="0">
              <a:buNone/>
            </a:pPr>
            <a:r>
              <a:rPr lang="en-US" sz="1050" dirty="0">
                <a:solidFill>
                  <a:srgbClr val="6E828C"/>
                </a:solidFill>
                <a:latin typeface="Calibri" pitchFamily="34" charset="0"/>
                <a:ea typeface="Calibri" pitchFamily="34" charset="-122"/>
                <a:cs typeface="Calibri" pitchFamily="34" charset="-120"/>
              </a:rPr>
              <a:t>Topic, partition, start offset, end offset. On restart the connector knows exactly which offsets are already durable — so it never double-writes.</a:t>
            </a:r>
            <a:endParaRPr lang="en-US" sz="1050" dirty="0"/>
          </a:p>
        </p:txBody>
      </p:sp>
      <p:sp>
        <p:nvSpPr>
          <p:cNvPr id="17" name="Text 14"/>
          <p:cNvSpPr txBox="1"/>
          <p:nvPr/>
        </p:nvSpPr>
        <p:spPr>
          <a:xfrm>
            <a:off x="704089" y="4937760"/>
            <a:ext cx="10954512" cy="457200"/>
          </a:xfrm>
          <a:prstGeom prst="rect">
            <a:avLst/>
          </a:prstGeom>
          <a:noFill/>
          <a:ln/>
        </p:spPr>
        <p:txBody>
          <a:bodyPr wrap="square" lIns="0" tIns="0" rIns="0" bIns="0" rtlCol="0" anchor="ctr"/>
          <a:lstStyle/>
          <a:p>
            <a:pPr marL="0" indent="0">
              <a:buNone/>
            </a:pPr>
            <a:r>
              <a:rPr lang="en-US" sz="1400" i="1" dirty="0">
                <a:solidFill>
                  <a:srgbClr val="6E828C"/>
                </a:solidFill>
                <a:latin typeface="Bookman Old Style" panose="02050604050505020204" pitchFamily="18" charset="0"/>
                <a:ea typeface="Calibri" pitchFamily="34" charset="-122"/>
                <a:cs typeface="Calibri" pitchFamily="34" charset="-120"/>
              </a:rPr>
              <a:t>2,346,029 rows in, 369 out of the first aggregate </a:t>
            </a:r>
            <a:r>
              <a:rPr lang="en-US" sz="1400" i="1" dirty="0" smtClean="0">
                <a:solidFill>
                  <a:srgbClr val="6E828C"/>
                </a:solidFill>
                <a:latin typeface="Bookman Old Style" panose="02050604050505020204" pitchFamily="18" charset="0"/>
                <a:ea typeface="Calibri" pitchFamily="34" charset="-122"/>
                <a:cs typeface="Calibri" pitchFamily="34" charset="-120"/>
              </a:rPr>
              <a:t> </a:t>
            </a:r>
            <a:r>
              <a:rPr lang="en-US" sz="1400" i="1" dirty="0">
                <a:solidFill>
                  <a:srgbClr val="6E828C"/>
                </a:solidFill>
                <a:latin typeface="Bookman Old Style" panose="02050604050505020204" pitchFamily="18" charset="0"/>
                <a:ea typeface="Calibri" pitchFamily="34" charset="-122"/>
                <a:cs typeface="Calibri" pitchFamily="34" charset="-120"/>
              </a:rPr>
              <a:t>Spark computed partial aggregates locally before shuffling.</a:t>
            </a:r>
            <a:endParaRPr lang="en-US" sz="1400" dirty="0">
              <a:latin typeface="Bookman Old Style" panose="02050604050505020204" pitchFamily="18" charset="0"/>
            </a:endParaRPr>
          </a:p>
        </p:txBody>
      </p:sp>
      <p:sp>
        <p:nvSpPr>
          <p:cNvPr id="18" name="Text 15"/>
          <p:cNvSpPr txBox="1"/>
          <p:nvPr/>
        </p:nvSpPr>
        <p:spPr>
          <a:xfrm>
            <a:off x="407504" y="5440680"/>
            <a:ext cx="11251096" cy="1078992"/>
          </a:xfrm>
          <a:prstGeom prst="rect">
            <a:avLst/>
          </a:prstGeom>
          <a:noFill/>
          <a:ln/>
        </p:spPr>
        <p:txBody>
          <a:bodyPr wrap="square" lIns="0" tIns="0" rIns="0" bIns="0" rtlCol="0" anchor="ctr"/>
          <a:lstStyle/>
          <a:p>
            <a:pPr marL="342900" indent="-342900">
              <a:spcAft>
                <a:spcPts val="400"/>
              </a:spcAft>
              <a:buSzPct val="100000"/>
              <a:buChar char="•"/>
            </a:pPr>
            <a:r>
              <a:rPr lang="en-US" sz="1400" dirty="0">
                <a:solidFill>
                  <a:srgbClr val="6E828C"/>
                </a:solidFill>
                <a:latin typeface="Bookman Old Style" panose="02050604050505020204" pitchFamily="18" charset="0"/>
                <a:ea typeface="Calibri" pitchFamily="34" charset="-122"/>
                <a:cs typeface="Calibri" pitchFamily="34" charset="-120"/>
              </a:rPr>
              <a:t>Column pruning: 7.6 MB read to aggregate 450,000 rows, because Parquet is columnar and we touched 2 of 14 columns.</a:t>
            </a:r>
            <a:endParaRPr lang="en-US" sz="1400" dirty="0">
              <a:latin typeface="Bookman Old Style" panose="02050604050505020204" pitchFamily="18" charset="0"/>
            </a:endParaRPr>
          </a:p>
          <a:p>
            <a:pPr marL="342900" indent="-342900">
              <a:spcAft>
                <a:spcPts val="400"/>
              </a:spcAft>
              <a:buSzPct val="100000"/>
              <a:buChar char="•"/>
            </a:pPr>
            <a:r>
              <a:rPr lang="en-US" sz="1400" dirty="0">
                <a:solidFill>
                  <a:srgbClr val="6E828C"/>
                </a:solidFill>
                <a:latin typeface="Bookman Old Style" panose="02050604050505020204" pitchFamily="18" charset="0"/>
                <a:ea typeface="Calibri" pitchFamily="34" charset="-122"/>
                <a:cs typeface="Calibri" pitchFamily="34" charset="-120"/>
              </a:rPr>
              <a:t>Small files (18 KB against a 256 MB block) are deliberate so files appear during the demo </a:t>
            </a:r>
            <a:r>
              <a:rPr lang="en-US" sz="1400" dirty="0">
                <a:solidFill>
                  <a:srgbClr val="6E828C"/>
                </a:solidFill>
                <a:latin typeface="Bookman Old Style" panose="02050604050505020204" pitchFamily="18" charset="0"/>
                <a:ea typeface="Calibri" pitchFamily="34" charset="-122"/>
                <a:cs typeface="Calibri" pitchFamily="34" charset="-120"/>
              </a:rPr>
              <a:t> </a:t>
            </a:r>
            <a:r>
              <a:rPr lang="en-US" sz="1400" dirty="0" smtClean="0">
                <a:solidFill>
                  <a:srgbClr val="6E828C"/>
                </a:solidFill>
                <a:latin typeface="Bookman Old Style" panose="02050604050505020204" pitchFamily="18" charset="0"/>
                <a:ea typeface="Calibri" pitchFamily="34" charset="-122"/>
                <a:cs typeface="Calibri" pitchFamily="34" charset="-120"/>
              </a:rPr>
              <a:t> </a:t>
            </a:r>
            <a:r>
              <a:rPr lang="en-US" sz="1400" dirty="0">
                <a:solidFill>
                  <a:srgbClr val="6E828C"/>
                </a:solidFill>
                <a:latin typeface="Bookman Old Style" panose="02050604050505020204" pitchFamily="18" charset="0"/>
                <a:ea typeface="Calibri" pitchFamily="34" charset="-122"/>
                <a:cs typeface="Calibri" pitchFamily="34" charset="-120"/>
              </a:rPr>
              <a:t>the classic HDFS anti-pattern, accepted knowingly</a:t>
            </a:r>
            <a:r>
              <a:rPr lang="en-US" sz="1050" dirty="0">
                <a:solidFill>
                  <a:srgbClr val="6E828C"/>
                </a:solidFill>
                <a:latin typeface="Calibri" pitchFamily="34" charset="0"/>
                <a:ea typeface="Calibri" pitchFamily="34" charset="-122"/>
                <a:cs typeface="Calibri" pitchFamily="34" charset="-120"/>
              </a:rPr>
              <a:t>.</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11155680" cy="502920"/>
          </a:xfrm>
          <a:prstGeom prst="rect">
            <a:avLst/>
          </a:prstGeom>
          <a:noFill/>
          <a:ln/>
        </p:spPr>
        <p:txBody>
          <a:bodyPr wrap="square" lIns="0" tIns="0" rIns="0" bIns="0" rtlCol="0" anchor="ctr"/>
          <a:lstStyle/>
          <a:p>
            <a:pPr marL="0" indent="0">
              <a:buNone/>
            </a:pPr>
            <a:r>
              <a:rPr lang="en-US" sz="2700" b="1" dirty="0">
                <a:solidFill>
                  <a:srgbClr val="0F2833"/>
                </a:solidFill>
                <a:latin typeface="Cambria" pitchFamily="34" charset="0"/>
                <a:ea typeface="Cambria" pitchFamily="34" charset="-122"/>
                <a:cs typeface="Cambria" pitchFamily="34" charset="-120"/>
              </a:rPr>
              <a:t>Three insights from PySpark</a:t>
            </a:r>
            <a:endParaRPr lang="en-US" sz="2700" dirty="0"/>
          </a:p>
        </p:txBody>
      </p:sp>
      <p:sp>
        <p:nvSpPr>
          <p:cNvPr id="3" name="Text 1"/>
          <p:cNvSpPr txBox="1"/>
          <p:nvPr/>
        </p:nvSpPr>
        <p:spPr>
          <a:xfrm>
            <a:off x="502920" y="822960"/>
            <a:ext cx="11155680" cy="292608"/>
          </a:xfrm>
          <a:prstGeom prst="rect">
            <a:avLst/>
          </a:prstGeom>
          <a:noFill/>
          <a:ln/>
        </p:spPr>
        <p:txBody>
          <a:bodyPr wrap="square" lIns="0" tIns="0" rIns="0" bIns="0" rtlCol="0" anchor="ctr"/>
          <a:lstStyle/>
          <a:p>
            <a:pPr marL="0" indent="0">
              <a:buNone/>
            </a:pPr>
            <a:r>
              <a:rPr lang="en-US" sz="1200" dirty="0">
                <a:solidFill>
                  <a:srgbClr val="6E828C"/>
                </a:solidFill>
                <a:latin typeface="Calibri" pitchFamily="34" charset="0"/>
                <a:ea typeface="Calibri" pitchFamily="34" charset="-122"/>
                <a:cs typeface="Calibri" pitchFamily="34" charset="-120"/>
              </a:rPr>
              <a:t>Batch jobs reading Parquet straight out of HDFS, deduplicated on trip_id</a:t>
            </a:r>
            <a:endParaRPr lang="en-US" sz="1200" dirty="0"/>
          </a:p>
        </p:txBody>
      </p:sp>
      <p:pic>
        <p:nvPicPr>
          <p:cNvPr id="4" name="Image 0" descr="3_traffic_impact.png"/>
          <p:cNvPicPr>
            <a:picLocks noChangeAspect="1"/>
          </p:cNvPicPr>
          <p:nvPr/>
        </p:nvPicPr>
        <p:blipFill>
          <a:blip r:embed="rId3"/>
          <a:stretch>
            <a:fillRect/>
          </a:stretch>
        </p:blipFill>
        <p:spPr>
          <a:xfrm>
            <a:off x="502920" y="1188720"/>
            <a:ext cx="5577840" cy="2697480"/>
          </a:xfrm>
          <a:prstGeom prst="rect">
            <a:avLst/>
          </a:prstGeom>
        </p:spPr>
      </p:pic>
      <p:sp>
        <p:nvSpPr>
          <p:cNvPr id="5" name="Text 2"/>
          <p:cNvSpPr txBox="1"/>
          <p:nvPr/>
        </p:nvSpPr>
        <p:spPr>
          <a:xfrm>
            <a:off x="502920" y="3931920"/>
            <a:ext cx="5577840" cy="457200"/>
          </a:xfrm>
          <a:prstGeom prst="rect">
            <a:avLst/>
          </a:prstGeom>
          <a:noFill/>
          <a:ln/>
        </p:spPr>
        <p:txBody>
          <a:bodyPr wrap="square" lIns="0" tIns="0" rIns="0" bIns="0" rtlCol="0" anchor="ctr"/>
          <a:lstStyle/>
          <a:p>
            <a:pPr marL="0" indent="0">
              <a:buNone/>
            </a:pPr>
            <a:r>
              <a:rPr lang="en-US" sz="950" i="1" dirty="0">
                <a:solidFill>
                  <a:srgbClr val="6E828C"/>
                </a:solidFill>
                <a:latin typeface="Calibri" pitchFamily="34" charset="0"/>
                <a:ea typeface="Calibri" pitchFamily="34" charset="-122"/>
                <a:cs typeface="Calibri" pitchFamily="34" charset="-120"/>
              </a:rPr>
              <a:t>Insight 3 — minutes per kilometre, so trip length is cancelled out and this isolates traffic.</a:t>
            </a:r>
            <a:endParaRPr lang="en-US" sz="950" dirty="0"/>
          </a:p>
        </p:txBody>
      </p:sp>
      <p:pic>
        <p:nvPicPr>
          <p:cNvPr id="6" name="Image 1" descr="2_hourly_demand.png"/>
          <p:cNvPicPr>
            <a:picLocks noChangeAspect="1"/>
          </p:cNvPicPr>
          <p:nvPr/>
        </p:nvPicPr>
        <p:blipFill>
          <a:blip r:embed="rId4"/>
          <a:stretch>
            <a:fillRect/>
          </a:stretch>
        </p:blipFill>
        <p:spPr>
          <a:xfrm>
            <a:off x="6263640" y="1188720"/>
            <a:ext cx="5394960" cy="2697480"/>
          </a:xfrm>
          <a:prstGeom prst="rect">
            <a:avLst/>
          </a:prstGeom>
        </p:spPr>
      </p:pic>
      <p:sp>
        <p:nvSpPr>
          <p:cNvPr id="7" name="Text 3"/>
          <p:cNvSpPr txBox="1"/>
          <p:nvPr/>
        </p:nvSpPr>
        <p:spPr>
          <a:xfrm>
            <a:off x="6263640" y="3931920"/>
            <a:ext cx="5394960" cy="457200"/>
          </a:xfrm>
          <a:prstGeom prst="rect">
            <a:avLst/>
          </a:prstGeom>
          <a:noFill/>
          <a:ln/>
        </p:spPr>
        <p:txBody>
          <a:bodyPr wrap="square" lIns="0" tIns="0" rIns="0" bIns="0" rtlCol="0" anchor="ctr"/>
          <a:lstStyle/>
          <a:p>
            <a:pPr marL="0" indent="0">
              <a:buNone/>
            </a:pPr>
            <a:r>
              <a:rPr lang="en-US" sz="950" i="1" dirty="0">
                <a:solidFill>
                  <a:srgbClr val="6E828C"/>
                </a:solidFill>
                <a:latin typeface="Calibri" pitchFamily="34" charset="0"/>
                <a:ea typeface="Calibri" pitchFamily="34" charset="-122"/>
                <a:cs typeface="Calibri" pitchFamily="34" charset="-120"/>
              </a:rPr>
              <a:t>Insight 2 — two commuter peaks; the line is mean duration, rising to ~50 min in rush hours.</a:t>
            </a:r>
            <a:endParaRPr lang="en-US" sz="950" dirty="0"/>
          </a:p>
        </p:txBody>
      </p:sp>
      <p:sp>
        <p:nvSpPr>
          <p:cNvPr id="8" name="Shape 4"/>
          <p:cNvSpPr/>
          <p:nvPr/>
        </p:nvSpPr>
        <p:spPr>
          <a:xfrm>
            <a:off x="502920" y="4526280"/>
            <a:ext cx="5577840" cy="1691640"/>
          </a:xfrm>
          <a:prstGeom prst="roundRect">
            <a:avLst>
              <a:gd name="adj" fmla="val 2703"/>
            </a:avLst>
          </a:prstGeom>
          <a:solidFill>
            <a:srgbClr val="EEF2F3"/>
          </a:solidFill>
          <a:ln w="12700">
            <a:solidFill>
              <a:srgbClr val="E1E7EA"/>
            </a:solidFill>
            <a:prstDash val="solid"/>
          </a:ln>
        </p:spPr>
      </p:sp>
      <p:sp>
        <p:nvSpPr>
          <p:cNvPr id="9" name="Text 5"/>
          <p:cNvSpPr txBox="1"/>
          <p:nvPr/>
        </p:nvSpPr>
        <p:spPr>
          <a:xfrm>
            <a:off x="731520" y="4645152"/>
            <a:ext cx="5120640" cy="256032"/>
          </a:xfrm>
          <a:prstGeom prst="rect">
            <a:avLst/>
          </a:prstGeom>
          <a:noFill/>
          <a:ln/>
        </p:spPr>
        <p:txBody>
          <a:bodyPr wrap="square" lIns="0" tIns="0" rIns="0" bIns="0" rtlCol="0" anchor="ctr"/>
          <a:lstStyle/>
          <a:p>
            <a:pPr marL="0" indent="0">
              <a:buNone/>
            </a:pPr>
            <a:r>
              <a:rPr lang="en-US" sz="1250" b="1" dirty="0">
                <a:solidFill>
                  <a:srgbClr val="0F2833"/>
                </a:solidFill>
                <a:latin typeface="Calibri" pitchFamily="34" charset="0"/>
                <a:ea typeface="Calibri" pitchFamily="34" charset="-122"/>
                <a:cs typeface="Calibri" pitchFamily="34" charset="-120"/>
              </a:rPr>
              <a:t>Congestion more than doubles pace</a:t>
            </a:r>
            <a:endParaRPr lang="en-US" sz="1250" dirty="0"/>
          </a:p>
        </p:txBody>
      </p:sp>
      <p:sp>
        <p:nvSpPr>
          <p:cNvPr id="10" name="Text 6"/>
          <p:cNvSpPr txBox="1"/>
          <p:nvPr/>
        </p:nvSpPr>
        <p:spPr>
          <a:xfrm>
            <a:off x="731520" y="4937760"/>
            <a:ext cx="5120640" cy="1170432"/>
          </a:xfrm>
          <a:prstGeom prst="rect">
            <a:avLst/>
          </a:prstGeom>
          <a:noFill/>
          <a:ln/>
        </p:spPr>
        <p:txBody>
          <a:bodyPr wrap="square" lIns="0" tIns="0" rIns="0" bIns="0" rtlCol="0" anchor="ctr"/>
          <a:lstStyle/>
          <a:p>
            <a:pPr marL="285750" indent="-285750">
              <a:lnSpc>
                <a:spcPts val="1500"/>
              </a:lnSpc>
              <a:buFont typeface="Arial" panose="020B0604020202020204" pitchFamily="34" charset="0"/>
              <a:buChar char="•"/>
            </a:pPr>
            <a:r>
              <a:rPr lang="en-US" sz="1600" dirty="0">
                <a:solidFill>
                  <a:srgbClr val="6E828C"/>
                </a:solidFill>
                <a:latin typeface="Bookman Old Style" panose="02050604050505020204" pitchFamily="18" charset="0"/>
                <a:ea typeface="Calibri" pitchFamily="34" charset="-122"/>
                <a:cs typeface="Calibri" pitchFamily="34" charset="-120"/>
              </a:rPr>
              <a:t>gridlock  5.25 min/km   ·   light  2.40 </a:t>
            </a:r>
            <a:r>
              <a:rPr lang="en-US" sz="1600" dirty="0" smtClean="0">
                <a:solidFill>
                  <a:srgbClr val="6E828C"/>
                </a:solidFill>
                <a:latin typeface="Bookman Old Style" panose="02050604050505020204" pitchFamily="18" charset="0"/>
                <a:ea typeface="Calibri" pitchFamily="34" charset="-122"/>
                <a:cs typeface="Calibri" pitchFamily="34" charset="-120"/>
              </a:rPr>
              <a:t>min/km</a:t>
            </a:r>
            <a:r>
              <a:rPr lang="en-US" sz="1600" dirty="0">
                <a:latin typeface="Bookman Old Style" panose="02050604050505020204" pitchFamily="18" charset="0"/>
              </a:rPr>
              <a:t> </a:t>
            </a:r>
            <a:r>
              <a:rPr lang="en-US" sz="1600" dirty="0" smtClean="0">
                <a:solidFill>
                  <a:srgbClr val="6E828C"/>
                </a:solidFill>
                <a:latin typeface="Bookman Old Style" panose="02050604050505020204" pitchFamily="18" charset="0"/>
                <a:ea typeface="Calibri" pitchFamily="34" charset="-122"/>
                <a:cs typeface="Calibri" pitchFamily="34" charset="-120"/>
              </a:rPr>
              <a:t>Monotonic</a:t>
            </a:r>
            <a:r>
              <a:rPr lang="en-US" sz="1600" dirty="0">
                <a:solidFill>
                  <a:srgbClr val="6E828C"/>
                </a:solidFill>
                <a:latin typeface="Bookman Old Style" panose="02050604050505020204" pitchFamily="18" charset="0"/>
                <a:ea typeface="Calibri" pitchFamily="34" charset="-122"/>
                <a:cs typeface="Calibri" pitchFamily="34" charset="-120"/>
              </a:rPr>
              <a:t>, and stable as the dataset grew twenty-fold.</a:t>
            </a:r>
            <a:endParaRPr lang="en-US" sz="1600" dirty="0">
              <a:latin typeface="Bookman Old Style" panose="02050604050505020204" pitchFamily="18" charset="0"/>
            </a:endParaRPr>
          </a:p>
          <a:p>
            <a:pPr marL="285750" indent="-285750">
              <a:lnSpc>
                <a:spcPts val="1500"/>
              </a:lnSpc>
              <a:buFont typeface="Arial" panose="020B0604020202020204" pitchFamily="34" charset="0"/>
              <a:buChar char="•"/>
            </a:pPr>
            <a:r>
              <a:rPr lang="en-US" sz="1600" dirty="0">
                <a:solidFill>
                  <a:srgbClr val="6E828C"/>
                </a:solidFill>
                <a:latin typeface="Bookman Old Style" panose="02050604050505020204" pitchFamily="18" charset="0"/>
                <a:ea typeface="Calibri" pitchFamily="34" charset="-122"/>
                <a:cs typeface="Calibri" pitchFamily="34" charset="-120"/>
              </a:rPr>
              <a:t>This is the evidence for using traffic as a model feature.</a:t>
            </a:r>
            <a:endParaRPr lang="en-US" sz="1600" dirty="0">
              <a:latin typeface="Bookman Old Style" panose="02050604050505020204" pitchFamily="18" charset="0"/>
            </a:endParaRPr>
          </a:p>
        </p:txBody>
      </p:sp>
      <p:sp>
        <p:nvSpPr>
          <p:cNvPr id="11" name="Shape 7"/>
          <p:cNvSpPr/>
          <p:nvPr/>
        </p:nvSpPr>
        <p:spPr>
          <a:xfrm>
            <a:off x="6263640" y="4526280"/>
            <a:ext cx="5394960" cy="1691640"/>
          </a:xfrm>
          <a:prstGeom prst="roundRect">
            <a:avLst>
              <a:gd name="adj" fmla="val 2703"/>
            </a:avLst>
          </a:prstGeom>
          <a:solidFill>
            <a:srgbClr val="0F2833"/>
          </a:solidFill>
          <a:ln w="12700">
            <a:solidFill>
              <a:srgbClr val="E1E7EA"/>
            </a:solidFill>
            <a:prstDash val="solid"/>
          </a:ln>
        </p:spPr>
      </p:sp>
      <p:sp>
        <p:nvSpPr>
          <p:cNvPr id="12" name="Text 8"/>
          <p:cNvSpPr txBox="1"/>
          <p:nvPr/>
        </p:nvSpPr>
        <p:spPr>
          <a:xfrm>
            <a:off x="6492240" y="4645152"/>
            <a:ext cx="4937760" cy="256032"/>
          </a:xfrm>
          <a:prstGeom prst="rect">
            <a:avLst/>
          </a:prstGeom>
          <a:noFill/>
          <a:ln/>
        </p:spPr>
        <p:txBody>
          <a:bodyPr wrap="square" lIns="0" tIns="0" rIns="0" bIns="0" rtlCol="0" anchor="ctr"/>
          <a:lstStyle/>
          <a:p>
            <a:pPr marL="0" indent="0">
              <a:buNone/>
            </a:pPr>
            <a:r>
              <a:rPr lang="en-US" sz="1250" b="1" dirty="0">
                <a:solidFill>
                  <a:srgbClr val="C08A1E"/>
                </a:solidFill>
                <a:latin typeface="Calibri" pitchFamily="34" charset="0"/>
                <a:ea typeface="Calibri" pitchFamily="34" charset="-122"/>
                <a:cs typeface="Calibri" pitchFamily="34" charset="-120"/>
              </a:rPr>
              <a:t>The instructive error</a:t>
            </a:r>
            <a:endParaRPr lang="en-US" sz="1250" dirty="0"/>
          </a:p>
        </p:txBody>
      </p:sp>
      <p:sp>
        <p:nvSpPr>
          <p:cNvPr id="13" name="Text 9"/>
          <p:cNvSpPr txBox="1"/>
          <p:nvPr/>
        </p:nvSpPr>
        <p:spPr>
          <a:xfrm>
            <a:off x="6492240" y="4937760"/>
            <a:ext cx="4937760" cy="118872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Our first hourly chart showed all demand in three evening hours — clean, plausible, and entirely wrong. pickup_hour was stamped from the wall clock, not simulated. We fixed the generator and now train on the corrected date partition, which also exercises partition pruning.</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11155680" cy="502920"/>
          </a:xfrm>
          <a:prstGeom prst="rect">
            <a:avLst/>
          </a:prstGeom>
          <a:noFill/>
          <a:ln/>
        </p:spPr>
        <p:txBody>
          <a:bodyPr wrap="square" lIns="0" tIns="0" rIns="0" bIns="0" rtlCol="0" anchor="ctr"/>
          <a:lstStyle/>
          <a:p>
            <a:pPr marL="0" indent="0">
              <a:buNone/>
            </a:pPr>
            <a:r>
              <a:rPr lang="en-US" sz="2700" b="1" dirty="0">
                <a:solidFill>
                  <a:srgbClr val="0F2833"/>
                </a:solidFill>
                <a:latin typeface="Cambria" pitchFamily="34" charset="0"/>
                <a:ea typeface="Cambria" pitchFamily="34" charset="-122"/>
                <a:cs typeface="Cambria" pitchFamily="34" charset="-120"/>
              </a:rPr>
              <a:t>Spark MLlib </a:t>
            </a:r>
            <a:r>
              <a:rPr lang="en-US" sz="2700" b="1" dirty="0" smtClean="0">
                <a:solidFill>
                  <a:srgbClr val="0F2833"/>
                </a:solidFill>
                <a:latin typeface="Cambria" pitchFamily="34" charset="0"/>
                <a:ea typeface="Cambria" pitchFamily="34" charset="-122"/>
                <a:cs typeface="Cambria" pitchFamily="34" charset="-120"/>
              </a:rPr>
              <a:t> </a:t>
            </a:r>
            <a:r>
              <a:rPr lang="en-US" sz="2700" b="1" dirty="0">
                <a:solidFill>
                  <a:srgbClr val="0F2833"/>
                </a:solidFill>
                <a:latin typeface="Cambria" pitchFamily="34" charset="0"/>
                <a:ea typeface="Cambria" pitchFamily="34" charset="-122"/>
                <a:cs typeface="Cambria" pitchFamily="34" charset="-120"/>
              </a:rPr>
              <a:t>trained, evaluated, deployed</a:t>
            </a:r>
            <a:endParaRPr lang="en-US" sz="2700" dirty="0"/>
          </a:p>
        </p:txBody>
      </p:sp>
      <p:sp>
        <p:nvSpPr>
          <p:cNvPr id="3" name="Text 1"/>
          <p:cNvSpPr txBox="1"/>
          <p:nvPr/>
        </p:nvSpPr>
        <p:spPr>
          <a:xfrm>
            <a:off x="502920" y="822960"/>
            <a:ext cx="11155680" cy="292608"/>
          </a:xfrm>
          <a:prstGeom prst="rect">
            <a:avLst/>
          </a:prstGeom>
          <a:noFill/>
          <a:ln/>
        </p:spPr>
        <p:txBody>
          <a:bodyPr wrap="square" lIns="0" tIns="0" rIns="0" bIns="0" rtlCol="0" anchor="ctr"/>
          <a:lstStyle/>
          <a:p>
            <a:pPr marL="0" indent="0">
              <a:buNone/>
            </a:pPr>
            <a:r>
              <a:rPr lang="en-US" sz="1600" dirty="0">
                <a:solidFill>
                  <a:srgbClr val="6E828C"/>
                </a:solidFill>
                <a:latin typeface="Bookman Old Style" panose="02050604050505020204" pitchFamily="18" charset="0"/>
                <a:ea typeface="Calibri" pitchFamily="34" charset="-122"/>
                <a:cs typeface="Calibri" pitchFamily="34" charset="-120"/>
              </a:rPr>
              <a:t>Supervised regression on features derived from the pipeline's own data</a:t>
            </a:r>
            <a:endParaRPr lang="en-US" sz="1600" dirty="0">
              <a:latin typeface="Bookman Old Style" panose="02050604050505020204" pitchFamily="18" charset="0"/>
            </a:endParaRPr>
          </a:p>
        </p:txBody>
      </p:sp>
      <p:sp>
        <p:nvSpPr>
          <p:cNvPr id="4" name="Shape 2"/>
          <p:cNvSpPr/>
          <p:nvPr/>
        </p:nvSpPr>
        <p:spPr>
          <a:xfrm>
            <a:off x="502920" y="1188720"/>
            <a:ext cx="2331720" cy="1371600"/>
          </a:xfrm>
          <a:prstGeom prst="roundRect">
            <a:avLst>
              <a:gd name="adj" fmla="val 3333"/>
            </a:avLst>
          </a:prstGeom>
          <a:solidFill>
            <a:srgbClr val="2A6B5F"/>
          </a:solidFill>
          <a:ln/>
        </p:spPr>
      </p:sp>
      <p:sp>
        <p:nvSpPr>
          <p:cNvPr id="5" name="Text 3"/>
          <p:cNvSpPr txBox="1"/>
          <p:nvPr/>
        </p:nvSpPr>
        <p:spPr>
          <a:xfrm>
            <a:off x="685800" y="1335024"/>
            <a:ext cx="1965960" cy="512064"/>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2.82</a:t>
            </a:r>
            <a:endParaRPr lang="en-US" sz="2800" dirty="0"/>
          </a:p>
        </p:txBody>
      </p:sp>
      <p:sp>
        <p:nvSpPr>
          <p:cNvPr id="6" name="Text 4"/>
          <p:cNvSpPr txBox="1"/>
          <p:nvPr/>
        </p:nvSpPr>
        <p:spPr>
          <a:xfrm>
            <a:off x="685800" y="1856232"/>
            <a:ext cx="1965960" cy="237744"/>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RMSE, minutes</a:t>
            </a:r>
            <a:endParaRPr lang="en-US" sz="1100" dirty="0"/>
          </a:p>
        </p:txBody>
      </p:sp>
      <p:sp>
        <p:nvSpPr>
          <p:cNvPr id="7" name="Text 5"/>
          <p:cNvSpPr txBox="1"/>
          <p:nvPr/>
        </p:nvSpPr>
        <p:spPr>
          <a:xfrm>
            <a:off x="685800" y="2093976"/>
            <a:ext cx="1965960" cy="36576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floor is 1.8</a:t>
            </a:r>
            <a:endParaRPr lang="en-US" sz="900" dirty="0"/>
          </a:p>
        </p:txBody>
      </p:sp>
      <p:sp>
        <p:nvSpPr>
          <p:cNvPr id="8" name="Shape 6"/>
          <p:cNvSpPr/>
          <p:nvPr/>
        </p:nvSpPr>
        <p:spPr>
          <a:xfrm>
            <a:off x="2953512" y="1188720"/>
            <a:ext cx="2331720" cy="1371600"/>
          </a:xfrm>
          <a:prstGeom prst="roundRect">
            <a:avLst>
              <a:gd name="adj" fmla="val 3333"/>
            </a:avLst>
          </a:prstGeom>
          <a:solidFill>
            <a:srgbClr val="16303B"/>
          </a:solidFill>
          <a:ln/>
        </p:spPr>
      </p:sp>
      <p:sp>
        <p:nvSpPr>
          <p:cNvPr id="9" name="Text 7"/>
          <p:cNvSpPr txBox="1"/>
          <p:nvPr/>
        </p:nvSpPr>
        <p:spPr>
          <a:xfrm>
            <a:off x="3136392" y="1335024"/>
            <a:ext cx="1965960" cy="512064"/>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2.15</a:t>
            </a:r>
            <a:endParaRPr lang="en-US" sz="2800" dirty="0"/>
          </a:p>
        </p:txBody>
      </p:sp>
      <p:sp>
        <p:nvSpPr>
          <p:cNvPr id="10" name="Text 8"/>
          <p:cNvSpPr txBox="1"/>
          <p:nvPr/>
        </p:nvSpPr>
        <p:spPr>
          <a:xfrm>
            <a:off x="3136392" y="1856232"/>
            <a:ext cx="1965960" cy="237744"/>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MAE, minutes</a:t>
            </a:r>
            <a:endParaRPr lang="en-US" sz="1100" dirty="0"/>
          </a:p>
        </p:txBody>
      </p:sp>
      <p:sp>
        <p:nvSpPr>
          <p:cNvPr id="11" name="Text 9"/>
          <p:cNvSpPr txBox="1"/>
          <p:nvPr/>
        </p:nvSpPr>
        <p:spPr>
          <a:xfrm>
            <a:off x="3136392" y="2093976"/>
            <a:ext cx="1965960" cy="36576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average ETA error</a:t>
            </a:r>
            <a:endParaRPr lang="en-US" sz="900" dirty="0"/>
          </a:p>
        </p:txBody>
      </p:sp>
      <p:sp>
        <p:nvSpPr>
          <p:cNvPr id="12" name="Shape 10"/>
          <p:cNvSpPr/>
          <p:nvPr/>
        </p:nvSpPr>
        <p:spPr>
          <a:xfrm>
            <a:off x="5404104" y="1188720"/>
            <a:ext cx="2331720" cy="1371600"/>
          </a:xfrm>
          <a:prstGeom prst="roundRect">
            <a:avLst>
              <a:gd name="adj" fmla="val 3333"/>
            </a:avLst>
          </a:prstGeom>
          <a:solidFill>
            <a:srgbClr val="3E9183"/>
          </a:solidFill>
          <a:ln/>
        </p:spPr>
      </p:sp>
      <p:sp>
        <p:nvSpPr>
          <p:cNvPr id="13" name="Text 11"/>
          <p:cNvSpPr txBox="1"/>
          <p:nvPr/>
        </p:nvSpPr>
        <p:spPr>
          <a:xfrm>
            <a:off x="5586984" y="1335024"/>
            <a:ext cx="1965960" cy="512064"/>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0.991</a:t>
            </a:r>
            <a:endParaRPr lang="en-US" sz="2800" dirty="0"/>
          </a:p>
        </p:txBody>
      </p:sp>
      <p:sp>
        <p:nvSpPr>
          <p:cNvPr id="14" name="Text 12"/>
          <p:cNvSpPr txBox="1"/>
          <p:nvPr/>
        </p:nvSpPr>
        <p:spPr>
          <a:xfrm>
            <a:off x="5586984" y="1856232"/>
            <a:ext cx="1965960" cy="237744"/>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R squared</a:t>
            </a:r>
            <a:endParaRPr lang="en-US" sz="1100" dirty="0"/>
          </a:p>
        </p:txBody>
      </p:sp>
      <p:sp>
        <p:nvSpPr>
          <p:cNvPr id="15" name="Text 13"/>
          <p:cNvSpPr txBox="1"/>
          <p:nvPr/>
        </p:nvSpPr>
        <p:spPr>
          <a:xfrm>
            <a:off x="5586984" y="2093976"/>
            <a:ext cx="1965960" cy="36576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variance explained</a:t>
            </a:r>
            <a:endParaRPr lang="en-US" sz="900" dirty="0"/>
          </a:p>
        </p:txBody>
      </p:sp>
      <p:sp>
        <p:nvSpPr>
          <p:cNvPr id="16" name="Shape 14"/>
          <p:cNvSpPr/>
          <p:nvPr/>
        </p:nvSpPr>
        <p:spPr>
          <a:xfrm>
            <a:off x="7854696" y="1238416"/>
            <a:ext cx="3803904" cy="1371600"/>
          </a:xfrm>
          <a:prstGeom prst="roundRect">
            <a:avLst>
              <a:gd name="adj" fmla="val 3333"/>
            </a:avLst>
          </a:prstGeom>
          <a:solidFill>
            <a:srgbClr val="C08A1E"/>
          </a:solidFill>
          <a:ln/>
        </p:spPr>
      </p:sp>
      <p:sp>
        <p:nvSpPr>
          <p:cNvPr id="17" name="Text 15"/>
          <p:cNvSpPr txBox="1"/>
          <p:nvPr/>
        </p:nvSpPr>
        <p:spPr>
          <a:xfrm>
            <a:off x="8037576" y="1335024"/>
            <a:ext cx="3438144" cy="512064"/>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67.8%</a:t>
            </a:r>
            <a:endParaRPr lang="en-US" sz="2800" dirty="0"/>
          </a:p>
        </p:txBody>
      </p:sp>
      <p:sp>
        <p:nvSpPr>
          <p:cNvPr id="18" name="Text 16"/>
          <p:cNvSpPr txBox="1"/>
          <p:nvPr/>
        </p:nvSpPr>
        <p:spPr>
          <a:xfrm>
            <a:off x="8037576" y="1856232"/>
            <a:ext cx="3438144" cy="237744"/>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lower RMSE than linear</a:t>
            </a:r>
            <a:endParaRPr lang="en-US" sz="1100" dirty="0"/>
          </a:p>
        </p:txBody>
      </p:sp>
      <p:sp>
        <p:nvSpPr>
          <p:cNvPr id="19" name="Text 17"/>
          <p:cNvSpPr txBox="1"/>
          <p:nvPr/>
        </p:nvSpPr>
        <p:spPr>
          <a:xfrm>
            <a:off x="8037576" y="2093976"/>
            <a:ext cx="3438144" cy="36576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8.755 → 2.821 on the same split</a:t>
            </a:r>
            <a:endParaRPr lang="en-US" sz="900" dirty="0"/>
          </a:p>
        </p:txBody>
      </p:sp>
      <p:pic>
        <p:nvPicPr>
          <p:cNvPr id="20" name="Image 0" descr="4_model_comparison.png"/>
          <p:cNvPicPr>
            <a:picLocks noChangeAspect="1"/>
          </p:cNvPicPr>
          <p:nvPr/>
        </p:nvPicPr>
        <p:blipFill>
          <a:blip r:embed="rId3"/>
          <a:stretch>
            <a:fillRect/>
          </a:stretch>
        </p:blipFill>
        <p:spPr>
          <a:xfrm>
            <a:off x="502920" y="2743200"/>
            <a:ext cx="6675120" cy="1874520"/>
          </a:xfrm>
          <a:prstGeom prst="rect">
            <a:avLst/>
          </a:prstGeom>
        </p:spPr>
      </p:pic>
      <p:sp>
        <p:nvSpPr>
          <p:cNvPr id="21" name="Text 18"/>
          <p:cNvSpPr txBox="1"/>
          <p:nvPr/>
        </p:nvSpPr>
        <p:spPr>
          <a:xfrm>
            <a:off x="502920" y="4663440"/>
            <a:ext cx="6675120" cy="457200"/>
          </a:xfrm>
          <a:prstGeom prst="rect">
            <a:avLst/>
          </a:prstGeom>
          <a:noFill/>
          <a:ln/>
        </p:spPr>
        <p:txBody>
          <a:bodyPr wrap="square" lIns="0" tIns="0" rIns="0" bIns="0" rtlCol="0" anchor="ctr"/>
          <a:lstStyle/>
          <a:p>
            <a:pPr marL="0" indent="0">
              <a:buNone/>
            </a:pPr>
            <a:r>
              <a:rPr lang="en-US" sz="950" i="1" dirty="0">
                <a:solidFill>
                  <a:srgbClr val="6E828C"/>
                </a:solidFill>
                <a:latin typeface="Calibri" pitchFamily="34" charset="0"/>
                <a:ea typeface="Calibri" pitchFamily="34" charset="-122"/>
                <a:cs typeface="Calibri" pitchFamily="34" charset="-120"/>
              </a:rPr>
              <a:t>GBT against a linear baseline, identical split, same job.</a:t>
            </a:r>
            <a:endParaRPr lang="en-US" sz="950" dirty="0"/>
          </a:p>
        </p:txBody>
      </p:sp>
      <p:pic>
        <p:nvPicPr>
          <p:cNvPr id="22" name="Image 1" descr="5_predicted_vs_actual.png"/>
          <p:cNvPicPr>
            <a:picLocks noChangeAspect="1"/>
          </p:cNvPicPr>
          <p:nvPr/>
        </p:nvPicPr>
        <p:blipFill>
          <a:blip r:embed="rId4"/>
          <a:stretch>
            <a:fillRect/>
          </a:stretch>
        </p:blipFill>
        <p:spPr>
          <a:xfrm>
            <a:off x="7498080" y="2743200"/>
            <a:ext cx="2148840" cy="2084832"/>
          </a:xfrm>
          <a:prstGeom prst="rect">
            <a:avLst/>
          </a:prstGeom>
        </p:spPr>
      </p:pic>
      <p:sp>
        <p:nvSpPr>
          <p:cNvPr id="23" name="Text 19"/>
          <p:cNvSpPr txBox="1"/>
          <p:nvPr/>
        </p:nvSpPr>
        <p:spPr>
          <a:xfrm>
            <a:off x="7498080" y="4864608"/>
            <a:ext cx="2148840" cy="457200"/>
          </a:xfrm>
          <a:prstGeom prst="rect">
            <a:avLst/>
          </a:prstGeom>
          <a:noFill/>
          <a:ln/>
        </p:spPr>
        <p:txBody>
          <a:bodyPr wrap="square" lIns="0" tIns="0" rIns="0" bIns="0" rtlCol="0" anchor="ctr"/>
          <a:lstStyle/>
          <a:p>
            <a:pPr marL="0" indent="0">
              <a:buNone/>
            </a:pPr>
            <a:r>
              <a:rPr lang="en-US" sz="950" i="1" dirty="0">
                <a:solidFill>
                  <a:srgbClr val="6E828C"/>
                </a:solidFill>
                <a:latin typeface="Calibri" pitchFamily="34" charset="0"/>
                <a:ea typeface="Calibri" pitchFamily="34" charset="-122"/>
                <a:cs typeface="Calibri" pitchFamily="34" charset="-120"/>
              </a:rPr>
              <a:t>2,000 scored trips.</a:t>
            </a:r>
            <a:endParaRPr lang="en-US" sz="950" dirty="0"/>
          </a:p>
        </p:txBody>
      </p:sp>
      <p:sp>
        <p:nvSpPr>
          <p:cNvPr id="24" name="Shape 20"/>
          <p:cNvSpPr/>
          <p:nvPr/>
        </p:nvSpPr>
        <p:spPr>
          <a:xfrm>
            <a:off x="502920" y="5212080"/>
            <a:ext cx="3520440" cy="1005840"/>
          </a:xfrm>
          <a:prstGeom prst="roundRect">
            <a:avLst>
              <a:gd name="adj" fmla="val 4545"/>
            </a:avLst>
          </a:prstGeom>
          <a:solidFill>
            <a:srgbClr val="EEF2F3"/>
          </a:solidFill>
          <a:ln w="12700">
            <a:solidFill>
              <a:srgbClr val="E1E7EA"/>
            </a:solidFill>
            <a:prstDash val="solid"/>
          </a:ln>
        </p:spPr>
      </p:sp>
      <p:sp>
        <p:nvSpPr>
          <p:cNvPr id="25" name="Shape 21"/>
          <p:cNvSpPr/>
          <p:nvPr/>
        </p:nvSpPr>
        <p:spPr>
          <a:xfrm>
            <a:off x="502920" y="5212080"/>
            <a:ext cx="50292" cy="1005840"/>
          </a:xfrm>
          <a:prstGeom prst="rect">
            <a:avLst/>
          </a:prstGeom>
          <a:solidFill>
            <a:srgbClr val="2A6B5F"/>
          </a:solidFill>
          <a:ln/>
        </p:spPr>
      </p:sp>
      <p:sp>
        <p:nvSpPr>
          <p:cNvPr id="26" name="Text 22"/>
          <p:cNvSpPr txBox="1"/>
          <p:nvPr/>
        </p:nvSpPr>
        <p:spPr>
          <a:xfrm>
            <a:off x="685800" y="5294376"/>
            <a:ext cx="3200400" cy="237744"/>
          </a:xfrm>
          <a:prstGeom prst="rect">
            <a:avLst/>
          </a:prstGeom>
          <a:noFill/>
          <a:ln/>
        </p:spPr>
        <p:txBody>
          <a:bodyPr wrap="square" lIns="0" tIns="0" rIns="0" bIns="0" rtlCol="0" anchor="ctr"/>
          <a:lstStyle/>
          <a:p>
            <a:pPr marL="0" indent="0">
              <a:buNone/>
            </a:pPr>
            <a:r>
              <a:rPr lang="en-US" sz="1100" b="1" dirty="0">
                <a:solidFill>
                  <a:srgbClr val="0F2833"/>
                </a:solidFill>
                <a:latin typeface="Calibri" pitchFamily="34" charset="0"/>
                <a:ea typeface="Calibri" pitchFamily="34" charset="-122"/>
                <a:cs typeface="Calibri" pitchFamily="34" charset="-120"/>
              </a:rPr>
              <a:t>Why GBT, not linear</a:t>
            </a:r>
            <a:endParaRPr lang="en-US" sz="1100" dirty="0"/>
          </a:p>
        </p:txBody>
      </p:sp>
      <p:sp>
        <p:nvSpPr>
          <p:cNvPr id="27" name="Text 23"/>
          <p:cNvSpPr txBox="1"/>
          <p:nvPr/>
        </p:nvSpPr>
        <p:spPr>
          <a:xfrm>
            <a:off x="685800" y="5532120"/>
            <a:ext cx="3200400" cy="621792"/>
          </a:xfrm>
          <a:prstGeom prst="rect">
            <a:avLst/>
          </a:prstGeom>
          <a:noFill/>
          <a:ln/>
        </p:spPr>
        <p:txBody>
          <a:bodyPr wrap="square" lIns="0" tIns="0" rIns="0" bIns="0" rtlCol="0" anchor="ctr"/>
          <a:lstStyle/>
          <a:p>
            <a:pPr marL="0" indent="0">
              <a:buNone/>
            </a:pPr>
            <a:r>
              <a:rPr lang="en-US" sz="1100" dirty="0">
                <a:solidFill>
                  <a:srgbClr val="6E828C"/>
                </a:solidFill>
                <a:latin typeface="Bookman Old Style" panose="02050604050505020204" pitchFamily="18" charset="0"/>
                <a:ea typeface="Calibri" pitchFamily="34" charset="-122"/>
                <a:cs typeface="Calibri" pitchFamily="34" charset="-120"/>
              </a:rPr>
              <a:t>Traffic and weather SCALE base travel time and interact with distance. A linear model can only add.</a:t>
            </a:r>
            <a:endParaRPr lang="en-US" sz="1100" dirty="0">
              <a:latin typeface="Bookman Old Style" panose="02050604050505020204" pitchFamily="18" charset="0"/>
            </a:endParaRPr>
          </a:p>
        </p:txBody>
      </p:sp>
      <p:sp>
        <p:nvSpPr>
          <p:cNvPr id="28" name="Shape 24"/>
          <p:cNvSpPr/>
          <p:nvPr/>
        </p:nvSpPr>
        <p:spPr>
          <a:xfrm>
            <a:off x="4215384" y="5212080"/>
            <a:ext cx="3520440" cy="1005840"/>
          </a:xfrm>
          <a:prstGeom prst="roundRect">
            <a:avLst>
              <a:gd name="adj" fmla="val 4545"/>
            </a:avLst>
          </a:prstGeom>
          <a:solidFill>
            <a:srgbClr val="EEF2F3"/>
          </a:solidFill>
          <a:ln w="12700">
            <a:solidFill>
              <a:srgbClr val="E1E7EA"/>
            </a:solidFill>
            <a:prstDash val="solid"/>
          </a:ln>
        </p:spPr>
      </p:sp>
      <p:sp>
        <p:nvSpPr>
          <p:cNvPr id="29" name="Shape 25"/>
          <p:cNvSpPr/>
          <p:nvPr/>
        </p:nvSpPr>
        <p:spPr>
          <a:xfrm>
            <a:off x="4215384" y="5212080"/>
            <a:ext cx="50292" cy="1005840"/>
          </a:xfrm>
          <a:prstGeom prst="rect">
            <a:avLst/>
          </a:prstGeom>
          <a:solidFill>
            <a:srgbClr val="C08A1E"/>
          </a:solidFill>
          <a:ln/>
        </p:spPr>
      </p:sp>
      <p:sp>
        <p:nvSpPr>
          <p:cNvPr id="30" name="Text 26"/>
          <p:cNvSpPr txBox="1"/>
          <p:nvPr/>
        </p:nvSpPr>
        <p:spPr>
          <a:xfrm>
            <a:off x="4398264" y="5294376"/>
            <a:ext cx="3200400" cy="237744"/>
          </a:xfrm>
          <a:prstGeom prst="rect">
            <a:avLst/>
          </a:prstGeom>
          <a:noFill/>
          <a:ln/>
        </p:spPr>
        <p:txBody>
          <a:bodyPr wrap="square" lIns="0" tIns="0" rIns="0" bIns="0" rtlCol="0" anchor="ctr"/>
          <a:lstStyle/>
          <a:p>
            <a:pPr marL="0" indent="0">
              <a:buNone/>
            </a:pPr>
            <a:r>
              <a:rPr lang="en-US" sz="1100" b="1" dirty="0">
                <a:solidFill>
                  <a:srgbClr val="0F2833"/>
                </a:solidFill>
                <a:latin typeface="Calibri" pitchFamily="34" charset="0"/>
                <a:ea typeface="Calibri" pitchFamily="34" charset="-122"/>
                <a:cs typeface="Calibri" pitchFamily="34" charset="-120"/>
              </a:rPr>
              <a:t>Why R2 is not 1.0</a:t>
            </a:r>
            <a:endParaRPr lang="en-US" sz="1100" dirty="0"/>
          </a:p>
        </p:txBody>
      </p:sp>
      <p:sp>
        <p:nvSpPr>
          <p:cNvPr id="31" name="Text 27"/>
          <p:cNvSpPr txBox="1"/>
          <p:nvPr/>
        </p:nvSpPr>
        <p:spPr>
          <a:xfrm>
            <a:off x="4398264" y="5532120"/>
            <a:ext cx="3200400" cy="621792"/>
          </a:xfrm>
          <a:prstGeom prst="rect">
            <a:avLst/>
          </a:prstGeom>
          <a:noFill/>
          <a:ln/>
        </p:spPr>
        <p:txBody>
          <a:bodyPr wrap="square" lIns="0" tIns="0" rIns="0" bIns="0" rtlCol="0" anchor="ctr"/>
          <a:lstStyle/>
          <a:p>
            <a:pPr marL="0" indent="0">
              <a:buNone/>
            </a:pPr>
            <a:r>
              <a:rPr lang="en-US" sz="1200" dirty="0">
                <a:solidFill>
                  <a:srgbClr val="6E828C"/>
                </a:solidFill>
                <a:latin typeface="Bookman Old Style" panose="02050604050505020204" pitchFamily="18" charset="0"/>
                <a:ea typeface="Calibri" pitchFamily="34" charset="-122"/>
                <a:cs typeface="Calibri" pitchFamily="34" charset="-120"/>
              </a:rPr>
              <a:t>The generator adds noise, SD 1.8 min. Irreducible </a:t>
            </a:r>
            <a:r>
              <a:rPr lang="en-US" sz="1200" dirty="0" smtClean="0">
                <a:solidFill>
                  <a:srgbClr val="6E828C"/>
                </a:solidFill>
                <a:latin typeface="Bookman Old Style" panose="02050604050505020204" pitchFamily="18" charset="0"/>
                <a:ea typeface="Calibri" pitchFamily="34" charset="-122"/>
                <a:cs typeface="Calibri" pitchFamily="34" charset="-120"/>
              </a:rPr>
              <a:t>and </a:t>
            </a:r>
            <a:r>
              <a:rPr lang="en-US" sz="1200" dirty="0">
                <a:solidFill>
                  <a:srgbClr val="6E828C"/>
                </a:solidFill>
                <a:latin typeface="Bookman Old Style" panose="02050604050505020204" pitchFamily="18" charset="0"/>
                <a:ea typeface="Calibri" pitchFamily="34" charset="-122"/>
                <a:cs typeface="Calibri" pitchFamily="34" charset="-120"/>
              </a:rPr>
              <a:t>a result BELOW 1.8 would mean leakage.</a:t>
            </a:r>
            <a:endParaRPr lang="en-US" sz="1200" dirty="0">
              <a:latin typeface="Bookman Old Style" panose="02050604050505020204" pitchFamily="18" charset="0"/>
            </a:endParaRPr>
          </a:p>
        </p:txBody>
      </p:sp>
      <p:sp>
        <p:nvSpPr>
          <p:cNvPr id="32" name="Shape 28"/>
          <p:cNvSpPr/>
          <p:nvPr/>
        </p:nvSpPr>
        <p:spPr>
          <a:xfrm>
            <a:off x="7927848" y="5212080"/>
            <a:ext cx="3520440" cy="1005840"/>
          </a:xfrm>
          <a:prstGeom prst="roundRect">
            <a:avLst>
              <a:gd name="adj" fmla="val 4545"/>
            </a:avLst>
          </a:prstGeom>
          <a:solidFill>
            <a:srgbClr val="EEF2F3"/>
          </a:solidFill>
          <a:ln w="12700">
            <a:solidFill>
              <a:srgbClr val="E1E7EA"/>
            </a:solidFill>
            <a:prstDash val="solid"/>
          </a:ln>
        </p:spPr>
      </p:sp>
      <p:sp>
        <p:nvSpPr>
          <p:cNvPr id="33" name="Shape 29"/>
          <p:cNvSpPr/>
          <p:nvPr/>
        </p:nvSpPr>
        <p:spPr>
          <a:xfrm>
            <a:off x="7927848" y="5212080"/>
            <a:ext cx="50292" cy="1005840"/>
          </a:xfrm>
          <a:prstGeom prst="rect">
            <a:avLst/>
          </a:prstGeom>
          <a:solidFill>
            <a:srgbClr val="B0472F"/>
          </a:solidFill>
          <a:ln/>
        </p:spPr>
      </p:sp>
      <p:sp>
        <p:nvSpPr>
          <p:cNvPr id="34" name="Text 30"/>
          <p:cNvSpPr txBox="1"/>
          <p:nvPr/>
        </p:nvSpPr>
        <p:spPr>
          <a:xfrm>
            <a:off x="8110728" y="5294376"/>
            <a:ext cx="3200400" cy="237744"/>
          </a:xfrm>
          <a:prstGeom prst="rect">
            <a:avLst/>
          </a:prstGeom>
          <a:noFill/>
          <a:ln/>
        </p:spPr>
        <p:txBody>
          <a:bodyPr wrap="square" lIns="0" tIns="0" rIns="0" bIns="0" rtlCol="0" anchor="ctr"/>
          <a:lstStyle/>
          <a:p>
            <a:pPr marL="0" indent="0">
              <a:buNone/>
            </a:pPr>
            <a:r>
              <a:rPr lang="en-US" sz="1100" b="1" dirty="0">
                <a:solidFill>
                  <a:srgbClr val="0F2833"/>
                </a:solidFill>
                <a:latin typeface="Calibri" pitchFamily="34" charset="0"/>
                <a:ea typeface="Calibri" pitchFamily="34" charset="-122"/>
                <a:cs typeface="Calibri" pitchFamily="34" charset="-120"/>
              </a:rPr>
              <a:t>The feature we withheld</a:t>
            </a:r>
            <a:endParaRPr lang="en-US" sz="1100" dirty="0"/>
          </a:p>
        </p:txBody>
      </p:sp>
      <p:sp>
        <p:nvSpPr>
          <p:cNvPr id="35" name="Text 31"/>
          <p:cNvSpPr txBox="1"/>
          <p:nvPr/>
        </p:nvSpPr>
        <p:spPr>
          <a:xfrm>
            <a:off x="8170164" y="5532120"/>
            <a:ext cx="3140964" cy="621792"/>
          </a:xfrm>
          <a:prstGeom prst="rect">
            <a:avLst/>
          </a:prstGeom>
          <a:noFill/>
          <a:ln/>
        </p:spPr>
        <p:txBody>
          <a:bodyPr wrap="square" lIns="0" tIns="0" rIns="0" bIns="0" rtlCol="0" anchor="ctr"/>
          <a:lstStyle/>
          <a:p>
            <a:pPr marL="0" indent="0">
              <a:buNone/>
            </a:pPr>
            <a:r>
              <a:rPr lang="en-US" sz="1200" dirty="0">
                <a:solidFill>
                  <a:srgbClr val="6E828C"/>
                </a:solidFill>
                <a:latin typeface="Bookman Old Style" panose="02050604050505020204" pitchFamily="18" charset="0"/>
                <a:ea typeface="Calibri" pitchFamily="34" charset="-122"/>
                <a:cs typeface="Calibri" pitchFamily="34" charset="-120"/>
              </a:rPr>
              <a:t>fare_rwf is computed FROM duration. Known only after the trip ends, so using it is target leakage</a:t>
            </a:r>
            <a:r>
              <a:rPr lang="en-US" sz="950" dirty="0">
                <a:solidFill>
                  <a:srgbClr val="6E828C"/>
                </a:solidFill>
                <a:latin typeface="Calibri" pitchFamily="34" charset="0"/>
                <a:ea typeface="Calibri" pitchFamily="34" charset="-122"/>
                <a:cs typeface="Calibri" pitchFamily="34" charset="-120"/>
              </a:rPr>
              <a:t>.</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11155680" cy="502920"/>
          </a:xfrm>
          <a:prstGeom prst="rect">
            <a:avLst/>
          </a:prstGeom>
          <a:noFill/>
          <a:ln/>
        </p:spPr>
        <p:txBody>
          <a:bodyPr wrap="square" lIns="0" tIns="0" rIns="0" bIns="0" rtlCol="0" anchor="ctr"/>
          <a:lstStyle/>
          <a:p>
            <a:pPr marL="0" indent="0">
              <a:buNone/>
            </a:pPr>
            <a:r>
              <a:rPr lang="en-US" sz="2700" b="1" dirty="0">
                <a:solidFill>
                  <a:srgbClr val="0F2833"/>
                </a:solidFill>
                <a:latin typeface="Cambria" pitchFamily="34" charset="0"/>
                <a:ea typeface="Cambria" pitchFamily="34" charset="-122"/>
                <a:cs typeface="Cambria" pitchFamily="34" charset="-120"/>
              </a:rPr>
              <a:t>Deployed, not just trained</a:t>
            </a:r>
            <a:endParaRPr lang="en-US" sz="2700" dirty="0"/>
          </a:p>
        </p:txBody>
      </p:sp>
      <p:sp>
        <p:nvSpPr>
          <p:cNvPr id="3" name="Text 1"/>
          <p:cNvSpPr txBox="1"/>
          <p:nvPr/>
        </p:nvSpPr>
        <p:spPr>
          <a:xfrm>
            <a:off x="502920" y="822960"/>
            <a:ext cx="11155680" cy="292608"/>
          </a:xfrm>
          <a:prstGeom prst="rect">
            <a:avLst/>
          </a:prstGeom>
          <a:noFill/>
          <a:ln/>
        </p:spPr>
        <p:txBody>
          <a:bodyPr wrap="square" lIns="0" tIns="0" rIns="0" bIns="0" rtlCol="0" anchor="ctr"/>
          <a:lstStyle/>
          <a:p>
            <a:pPr marL="0" indent="0">
              <a:buNone/>
            </a:pPr>
            <a:r>
              <a:rPr lang="en-US" sz="1200" dirty="0">
                <a:solidFill>
                  <a:srgbClr val="6E828C"/>
                </a:solidFill>
                <a:latin typeface="Calibri" pitchFamily="34" charset="0"/>
                <a:ea typeface="Calibri" pitchFamily="34" charset="-122"/>
                <a:cs typeface="Calibri" pitchFamily="34" charset="-120"/>
              </a:rPr>
              <a:t>A separate job loads the persisted model from HDFS and scores records it has never seen</a:t>
            </a:r>
            <a:endParaRPr lang="en-US" sz="1200" dirty="0"/>
          </a:p>
        </p:txBody>
      </p:sp>
      <p:pic>
        <p:nvPicPr>
          <p:cNvPr id="4" name="Image 0" descr="fig_predictions.png"/>
          <p:cNvPicPr>
            <a:picLocks noChangeAspect="1"/>
          </p:cNvPicPr>
          <p:nvPr/>
        </p:nvPicPr>
        <p:blipFill>
          <a:blip r:embed="rId3"/>
          <a:stretch>
            <a:fillRect/>
          </a:stretch>
        </p:blipFill>
        <p:spPr>
          <a:xfrm>
            <a:off x="502920" y="1234440"/>
            <a:ext cx="6766560" cy="3017520"/>
          </a:xfrm>
          <a:prstGeom prst="rect">
            <a:avLst/>
          </a:prstGeom>
        </p:spPr>
      </p:pic>
      <p:sp>
        <p:nvSpPr>
          <p:cNvPr id="5" name="Text 2"/>
          <p:cNvSpPr txBox="1"/>
          <p:nvPr/>
        </p:nvSpPr>
        <p:spPr>
          <a:xfrm>
            <a:off x="502920" y="4297680"/>
            <a:ext cx="6766560" cy="457200"/>
          </a:xfrm>
          <a:prstGeom prst="rect">
            <a:avLst/>
          </a:prstGeom>
          <a:noFill/>
          <a:ln/>
        </p:spPr>
        <p:txBody>
          <a:bodyPr wrap="square" lIns="0" tIns="0" rIns="0" bIns="0" rtlCol="0" anchor="ctr"/>
          <a:lstStyle/>
          <a:p>
            <a:pPr marL="0" indent="0">
              <a:buNone/>
            </a:pPr>
            <a:r>
              <a:rPr lang="en-US" sz="950" i="1" dirty="0">
                <a:solidFill>
                  <a:srgbClr val="6E828C"/>
                </a:solidFill>
                <a:latin typeface="Calibri" pitchFamily="34" charset="0"/>
                <a:ea typeface="Calibri" pitchFamily="34" charset="-122"/>
                <a:cs typeface="Calibri" pitchFamily="34" charset="-120"/>
              </a:rPr>
              <a:t>Real output from score_batch.py: the 18.5 km gridlock trip is predicted within 2.4 minutes.</a:t>
            </a:r>
            <a:endParaRPr lang="en-US" sz="950" dirty="0"/>
          </a:p>
        </p:txBody>
      </p:sp>
      <p:sp>
        <p:nvSpPr>
          <p:cNvPr id="6" name="Shape 3"/>
          <p:cNvSpPr/>
          <p:nvPr/>
        </p:nvSpPr>
        <p:spPr>
          <a:xfrm>
            <a:off x="7543800" y="1234440"/>
            <a:ext cx="4114800" cy="3017520"/>
          </a:xfrm>
          <a:prstGeom prst="roundRect">
            <a:avLst>
              <a:gd name="adj" fmla="val 1515"/>
            </a:avLst>
          </a:prstGeom>
          <a:solidFill>
            <a:srgbClr val="EEF2F3"/>
          </a:solidFill>
          <a:ln w="12700">
            <a:solidFill>
              <a:srgbClr val="E1E7EA"/>
            </a:solidFill>
            <a:prstDash val="solid"/>
          </a:ln>
        </p:spPr>
      </p:sp>
      <p:sp>
        <p:nvSpPr>
          <p:cNvPr id="7" name="Text 4"/>
          <p:cNvSpPr txBox="1"/>
          <p:nvPr/>
        </p:nvSpPr>
        <p:spPr>
          <a:xfrm>
            <a:off x="7772400" y="1353312"/>
            <a:ext cx="3657600" cy="256032"/>
          </a:xfrm>
          <a:prstGeom prst="rect">
            <a:avLst/>
          </a:prstGeom>
          <a:noFill/>
          <a:ln/>
        </p:spPr>
        <p:txBody>
          <a:bodyPr wrap="square" lIns="0" tIns="0" rIns="0" bIns="0" rtlCol="0" anchor="ctr"/>
          <a:lstStyle/>
          <a:p>
            <a:pPr marL="0" indent="0">
              <a:buNone/>
            </a:pPr>
            <a:r>
              <a:rPr lang="en-US" sz="1300" b="1" dirty="0">
                <a:solidFill>
                  <a:srgbClr val="0F2833"/>
                </a:solidFill>
                <a:latin typeface="Calibri" pitchFamily="34" charset="0"/>
                <a:ea typeface="Calibri" pitchFamily="34" charset="-122"/>
                <a:cs typeface="Calibri" pitchFamily="34" charset="-120"/>
              </a:rPr>
              <a:t>What makes it deployed</a:t>
            </a:r>
            <a:endParaRPr lang="en-US" sz="1300" dirty="0"/>
          </a:p>
        </p:txBody>
      </p:sp>
      <p:sp>
        <p:nvSpPr>
          <p:cNvPr id="8" name="Text 5"/>
          <p:cNvSpPr txBox="1"/>
          <p:nvPr/>
        </p:nvSpPr>
        <p:spPr>
          <a:xfrm>
            <a:off x="7772400" y="1664208"/>
            <a:ext cx="3657600" cy="2377440"/>
          </a:xfrm>
          <a:prstGeom prst="rect">
            <a:avLst/>
          </a:prstGeom>
          <a:noFill/>
          <a:ln/>
        </p:spPr>
        <p:txBody>
          <a:bodyPr wrap="square" lIns="0" tIns="0" rIns="0" bIns="0" rtlCol="0" anchor="ctr"/>
          <a:lstStyle/>
          <a:p>
            <a:pPr marL="342900" indent="-342900">
              <a:spcAft>
                <a:spcPts val="600"/>
              </a:spcAft>
              <a:buSzPct val="100000"/>
              <a:buChar char="•"/>
            </a:pPr>
            <a:r>
              <a:rPr lang="en-US" sz="1050" dirty="0">
                <a:solidFill>
                  <a:srgbClr val="6E828C"/>
                </a:solidFill>
                <a:latin typeface="Calibri" pitchFamily="34" charset="0"/>
                <a:ea typeface="Calibri" pitchFamily="34" charset="-122"/>
                <a:cs typeface="Calibri" pitchFamily="34" charset="-120"/>
              </a:rPr>
              <a:t>A separate job, in a separate process.</a:t>
            </a:r>
            <a:endParaRPr lang="en-US" sz="1050" dirty="0"/>
          </a:p>
          <a:p>
            <a:pPr marL="342900" indent="-342900">
              <a:spcAft>
                <a:spcPts val="600"/>
              </a:spcAft>
              <a:buSzPct val="100000"/>
              <a:buChar char="•"/>
            </a:pPr>
            <a:r>
              <a:rPr lang="en-US" sz="1050" dirty="0">
                <a:solidFill>
                  <a:srgbClr val="6E828C"/>
                </a:solidFill>
                <a:latin typeface="Calibri" pitchFamily="34" charset="0"/>
                <a:ea typeface="Calibri" pitchFamily="34" charset="-122"/>
                <a:cs typeface="Calibri" pitchFamily="34" charset="-120"/>
              </a:rPr>
              <a:t>Loads the PipelineModel from hdfs:///models/eta_gbt.</a:t>
            </a:r>
            <a:endParaRPr lang="en-US" sz="1050" dirty="0"/>
          </a:p>
          <a:p>
            <a:pPr marL="342900" indent="-342900">
              <a:spcAft>
                <a:spcPts val="600"/>
              </a:spcAft>
              <a:buSzPct val="100000"/>
              <a:buChar char="•"/>
            </a:pPr>
            <a:r>
              <a:rPr lang="en-US" sz="1050" dirty="0">
                <a:solidFill>
                  <a:srgbClr val="6E828C"/>
                </a:solidFill>
                <a:latin typeface="Calibri" pitchFamily="34" charset="0"/>
                <a:ea typeface="Calibri" pitchFamily="34" charset="-122"/>
                <a:cs typeface="Calibri" pitchFamily="34" charset="-120"/>
              </a:rPr>
              <a:t>The fitted indexers, encoders and 30 trees all come back from disk exactly as saved.</a:t>
            </a:r>
            <a:endParaRPr lang="en-US" sz="1050" dirty="0"/>
          </a:p>
          <a:p>
            <a:pPr marL="342900" indent="-342900">
              <a:spcAft>
                <a:spcPts val="600"/>
              </a:spcAft>
              <a:buSzPct val="100000"/>
              <a:buChar char="•"/>
            </a:pPr>
            <a:r>
              <a:rPr lang="en-US" sz="1050" dirty="0">
                <a:solidFill>
                  <a:srgbClr val="6E828C"/>
                </a:solidFill>
                <a:latin typeface="Calibri" pitchFamily="34" charset="0"/>
                <a:ea typeface="Calibri" pitchFamily="34" charset="-122"/>
                <a:cs typeface="Calibri" pitchFamily="34" charset="-120"/>
              </a:rPr>
              <a:t>Nothing about training is repeated.</a:t>
            </a:r>
            <a:endParaRPr lang="en-US" sz="1050" dirty="0"/>
          </a:p>
          <a:p>
            <a:pPr marL="342900" indent="-342900">
              <a:spcAft>
                <a:spcPts val="600"/>
              </a:spcAft>
              <a:buSzPct val="100000"/>
              <a:buChar char="•"/>
            </a:pPr>
            <a:r>
              <a:rPr lang="en-US" sz="1050" dirty="0">
                <a:solidFill>
                  <a:srgbClr val="6E828C"/>
                </a:solidFill>
                <a:latin typeface="Calibri" pitchFamily="34" charset="0"/>
                <a:ea typeface="Calibri" pitchFamily="34" charset="-122"/>
                <a:cs typeface="Calibri" pitchFamily="34" charset="-120"/>
              </a:rPr>
              <a:t>Predictions land in MariaDB, where the dashboard shows them beside the actuals.</a:t>
            </a:r>
            <a:endParaRPr lang="en-US" sz="1050" dirty="0"/>
          </a:p>
        </p:txBody>
      </p:sp>
      <p:sp>
        <p:nvSpPr>
          <p:cNvPr id="9" name="Shape 6"/>
          <p:cNvSpPr/>
          <p:nvPr/>
        </p:nvSpPr>
        <p:spPr>
          <a:xfrm>
            <a:off x="502920" y="4846320"/>
            <a:ext cx="11155680" cy="1371600"/>
          </a:xfrm>
          <a:prstGeom prst="roundRect">
            <a:avLst>
              <a:gd name="adj" fmla="val 3333"/>
            </a:avLst>
          </a:prstGeom>
          <a:solidFill>
            <a:srgbClr val="0F2833"/>
          </a:solidFill>
          <a:ln w="12700">
            <a:solidFill>
              <a:srgbClr val="E1E7EA"/>
            </a:solidFill>
            <a:prstDash val="solid"/>
          </a:ln>
        </p:spPr>
      </p:sp>
      <p:sp>
        <p:nvSpPr>
          <p:cNvPr id="10" name="Text 7"/>
          <p:cNvSpPr txBox="1"/>
          <p:nvPr/>
        </p:nvSpPr>
        <p:spPr>
          <a:xfrm>
            <a:off x="822960" y="4974336"/>
            <a:ext cx="10424160" cy="256032"/>
          </a:xfrm>
          <a:prstGeom prst="rect">
            <a:avLst/>
          </a:prstGeom>
          <a:noFill/>
          <a:ln/>
        </p:spPr>
        <p:txBody>
          <a:bodyPr wrap="square" lIns="0" tIns="0" rIns="0" bIns="0" rtlCol="0" anchor="ctr"/>
          <a:lstStyle/>
          <a:p>
            <a:pPr marL="0" indent="0">
              <a:buNone/>
            </a:pPr>
            <a:r>
              <a:rPr lang="en-US" sz="1250" b="1" dirty="0">
                <a:solidFill>
                  <a:srgbClr val="C08A1E"/>
                </a:solidFill>
                <a:latin typeface="Calibri" pitchFamily="34" charset="0"/>
                <a:ea typeface="Calibri" pitchFamily="34" charset="-122"/>
                <a:cs typeface="Calibri" pitchFamily="34" charset="-120"/>
              </a:rPr>
              <a:t>Where the model is weakest — and why that is worth showing</a:t>
            </a:r>
            <a:endParaRPr lang="en-US" sz="1250" dirty="0"/>
          </a:p>
        </p:txBody>
      </p:sp>
      <p:sp>
        <p:nvSpPr>
          <p:cNvPr id="11" name="Text 8"/>
          <p:cNvSpPr txBox="1"/>
          <p:nvPr/>
        </p:nvSpPr>
        <p:spPr>
          <a:xfrm>
            <a:off x="822960" y="5285232"/>
            <a:ext cx="10424160" cy="82296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Our largest errors cluster on long gridlock trips, where the model over-predicts. That is consistent with gridlock being the rarest traffic category at roughly 6% of trips, so the tree splits are coarser at that extreme. More gridlock data would help. We surface the worst errors on the dashboard rather than hiding them.</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11155680" cy="502920"/>
          </a:xfrm>
          <a:prstGeom prst="rect">
            <a:avLst/>
          </a:prstGeom>
          <a:noFill/>
          <a:ln/>
        </p:spPr>
        <p:txBody>
          <a:bodyPr wrap="square" lIns="0" tIns="0" rIns="0" bIns="0" rtlCol="0" anchor="ctr"/>
          <a:lstStyle/>
          <a:p>
            <a:pPr marL="0" indent="0">
              <a:buNone/>
            </a:pPr>
            <a:r>
              <a:rPr lang="en-US" sz="2700" b="1" dirty="0">
                <a:solidFill>
                  <a:srgbClr val="0F2833"/>
                </a:solidFill>
                <a:latin typeface="Cambria" pitchFamily="34" charset="0"/>
                <a:ea typeface="Cambria" pitchFamily="34" charset="-122"/>
                <a:cs typeface="Cambria" pitchFamily="34" charset="-120"/>
              </a:rPr>
              <a:t>Dashboard and enhancements</a:t>
            </a:r>
            <a:endParaRPr lang="en-US" sz="2700" dirty="0"/>
          </a:p>
        </p:txBody>
      </p:sp>
      <p:sp>
        <p:nvSpPr>
          <p:cNvPr id="3" name="Text 1"/>
          <p:cNvSpPr txBox="1"/>
          <p:nvPr/>
        </p:nvSpPr>
        <p:spPr>
          <a:xfrm>
            <a:off x="502920" y="822960"/>
            <a:ext cx="11155680" cy="292608"/>
          </a:xfrm>
          <a:prstGeom prst="rect">
            <a:avLst/>
          </a:prstGeom>
          <a:noFill/>
          <a:ln/>
        </p:spPr>
        <p:txBody>
          <a:bodyPr wrap="square" lIns="0" tIns="0" rIns="0" bIns="0" rtlCol="0" anchor="ctr"/>
          <a:lstStyle/>
          <a:p>
            <a:pPr marL="0" indent="0">
              <a:buNone/>
            </a:pPr>
            <a:r>
              <a:rPr lang="en-US" sz="1200" dirty="0">
                <a:solidFill>
                  <a:srgbClr val="6E828C"/>
                </a:solidFill>
                <a:latin typeface="Calibri" pitchFamily="34" charset="0"/>
                <a:ea typeface="Calibri" pitchFamily="34" charset="-122"/>
                <a:cs typeface="Calibri" pitchFamily="34" charset="-120"/>
              </a:rPr>
              <a:t>Two Django applications over one schema, with four additions beyond the reference diagram</a:t>
            </a:r>
            <a:endParaRPr lang="en-US" sz="1200" dirty="0"/>
          </a:p>
        </p:txBody>
      </p:sp>
      <p:pic>
        <p:nvPicPr>
          <p:cNvPr id="4" name="Image 0" descr="fig_dashboard_mid.png"/>
          <p:cNvPicPr>
            <a:picLocks noChangeAspect="1"/>
          </p:cNvPicPr>
          <p:nvPr/>
        </p:nvPicPr>
        <p:blipFill>
          <a:blip r:embed="rId3"/>
          <a:stretch>
            <a:fillRect/>
          </a:stretch>
        </p:blipFill>
        <p:spPr>
          <a:xfrm>
            <a:off x="502920" y="1188720"/>
            <a:ext cx="6903720" cy="3200400"/>
          </a:xfrm>
          <a:prstGeom prst="rect">
            <a:avLst/>
          </a:prstGeom>
        </p:spPr>
      </p:pic>
      <p:sp>
        <p:nvSpPr>
          <p:cNvPr id="5" name="Text 2"/>
          <p:cNvSpPr txBox="1"/>
          <p:nvPr/>
        </p:nvSpPr>
        <p:spPr>
          <a:xfrm>
            <a:off x="502920" y="4434840"/>
            <a:ext cx="6903720" cy="457200"/>
          </a:xfrm>
          <a:prstGeom prst="rect">
            <a:avLst/>
          </a:prstGeom>
          <a:noFill/>
          <a:ln/>
        </p:spPr>
        <p:txBody>
          <a:bodyPr wrap="square" lIns="0" tIns="0" rIns="0" bIns="0" rtlCol="0" anchor="ctr"/>
          <a:lstStyle/>
          <a:p>
            <a:pPr marL="0" indent="0">
              <a:buNone/>
            </a:pPr>
            <a:r>
              <a:rPr lang="en-US" sz="950" i="1" dirty="0">
                <a:solidFill>
                  <a:srgbClr val="6E828C"/>
                </a:solidFill>
                <a:latin typeface="Calibri" pitchFamily="34" charset="0"/>
                <a:ea typeface="Calibri" pitchFamily="34" charset="-122"/>
                <a:cs typeface="Calibri" pitchFamily="34" charset="-120"/>
              </a:rPr>
              <a:t>PySpark insights and MLlib model performance on one screen. Seven charts, recomputed from query results on every request.</a:t>
            </a:r>
            <a:endParaRPr lang="en-US" sz="950" dirty="0"/>
          </a:p>
        </p:txBody>
      </p:sp>
      <p:pic>
        <p:nvPicPr>
          <p:cNvPr id="6" name="Image 1" descr="fig_admin.png"/>
          <p:cNvPicPr>
            <a:picLocks noChangeAspect="1"/>
          </p:cNvPicPr>
          <p:nvPr/>
        </p:nvPicPr>
        <p:blipFill>
          <a:blip r:embed="rId4"/>
          <a:stretch>
            <a:fillRect/>
          </a:stretch>
        </p:blipFill>
        <p:spPr>
          <a:xfrm>
            <a:off x="7680960" y="1188720"/>
            <a:ext cx="3977640" cy="1828800"/>
          </a:xfrm>
          <a:prstGeom prst="rect">
            <a:avLst/>
          </a:prstGeom>
        </p:spPr>
      </p:pic>
      <p:sp>
        <p:nvSpPr>
          <p:cNvPr id="7" name="Text 3"/>
          <p:cNvSpPr txBox="1"/>
          <p:nvPr/>
        </p:nvSpPr>
        <p:spPr>
          <a:xfrm>
            <a:off x="7680960" y="3063240"/>
            <a:ext cx="3977640" cy="457200"/>
          </a:xfrm>
          <a:prstGeom prst="rect">
            <a:avLst/>
          </a:prstGeom>
          <a:noFill/>
          <a:ln/>
        </p:spPr>
        <p:txBody>
          <a:bodyPr wrap="square" lIns="0" tIns="0" rIns="0" bIns="0" rtlCol="0" anchor="ctr"/>
          <a:lstStyle/>
          <a:p>
            <a:pPr marL="0" indent="0">
              <a:buNone/>
            </a:pPr>
            <a:r>
              <a:rPr lang="en-US" sz="950" i="1" dirty="0">
                <a:solidFill>
                  <a:srgbClr val="6E828C"/>
                </a:solidFill>
                <a:latin typeface="Calibri" pitchFamily="34" charset="0"/>
                <a:ea typeface="Calibri" pitchFamily="34" charset="-122"/>
                <a:cs typeface="Calibri" pitchFamily="34" charset="-120"/>
              </a:rPr>
              <a:t>Django admin over the same tables, managed = False.</a:t>
            </a:r>
            <a:endParaRPr lang="en-US" sz="950" dirty="0"/>
          </a:p>
        </p:txBody>
      </p:sp>
      <p:sp>
        <p:nvSpPr>
          <p:cNvPr id="8" name="Shape 4"/>
          <p:cNvSpPr/>
          <p:nvPr/>
        </p:nvSpPr>
        <p:spPr>
          <a:xfrm>
            <a:off x="7680960" y="3337560"/>
            <a:ext cx="3977640" cy="621792"/>
          </a:xfrm>
          <a:prstGeom prst="roundRect">
            <a:avLst>
              <a:gd name="adj" fmla="val 7353"/>
            </a:avLst>
          </a:prstGeom>
          <a:solidFill>
            <a:srgbClr val="EEF2F3"/>
          </a:solidFill>
          <a:ln w="12700">
            <a:solidFill>
              <a:srgbClr val="E1E7EA"/>
            </a:solidFill>
            <a:prstDash val="solid"/>
          </a:ln>
        </p:spPr>
      </p:sp>
      <p:sp>
        <p:nvSpPr>
          <p:cNvPr id="9" name="Shape 5"/>
          <p:cNvSpPr/>
          <p:nvPr/>
        </p:nvSpPr>
        <p:spPr>
          <a:xfrm>
            <a:off x="7818120" y="3474720"/>
            <a:ext cx="347472" cy="347472"/>
          </a:xfrm>
          <a:prstGeom prst="ellipse">
            <a:avLst/>
          </a:prstGeom>
          <a:solidFill>
            <a:srgbClr val="2A6B5F"/>
          </a:solidFill>
          <a:ln/>
        </p:spPr>
      </p:sp>
      <p:sp>
        <p:nvSpPr>
          <p:cNvPr id="10" name="Text 6"/>
          <p:cNvSpPr txBox="1"/>
          <p:nvPr/>
        </p:nvSpPr>
        <p:spPr>
          <a:xfrm>
            <a:off x="7818120" y="3474720"/>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7"/>
          <p:cNvSpPr txBox="1"/>
          <p:nvPr/>
        </p:nvSpPr>
        <p:spPr>
          <a:xfrm>
            <a:off x="8275320" y="3392424"/>
            <a:ext cx="3291840" cy="237744"/>
          </a:xfrm>
          <a:prstGeom prst="rect">
            <a:avLst/>
          </a:prstGeom>
          <a:noFill/>
          <a:ln/>
        </p:spPr>
        <p:txBody>
          <a:bodyPr wrap="square" lIns="0" tIns="0" rIns="0" bIns="0" rtlCol="0" anchor="ctr"/>
          <a:lstStyle/>
          <a:p>
            <a:pPr marL="0" indent="0">
              <a:buNone/>
            </a:pPr>
            <a:r>
              <a:rPr lang="en-US" sz="1050" b="1" dirty="0">
                <a:solidFill>
                  <a:srgbClr val="0F2833"/>
                </a:solidFill>
                <a:latin typeface="Calibri" pitchFamily="34" charset="0"/>
                <a:ea typeface="Calibri" pitchFamily="34" charset="-122"/>
                <a:cs typeface="Calibri" pitchFamily="34" charset="-120"/>
              </a:rPr>
              <a:t>Alerts with stream provenance</a:t>
            </a:r>
            <a:endParaRPr lang="en-US" sz="1050" dirty="0"/>
          </a:p>
        </p:txBody>
      </p:sp>
      <p:sp>
        <p:nvSpPr>
          <p:cNvPr id="12" name="Text 8"/>
          <p:cNvSpPr txBox="1"/>
          <p:nvPr/>
        </p:nvSpPr>
        <p:spPr>
          <a:xfrm>
            <a:off x="8275320" y="3611880"/>
            <a:ext cx="3291840" cy="310896"/>
          </a:xfrm>
          <a:prstGeom prst="rect">
            <a:avLst/>
          </a:prstGeom>
          <a:noFill/>
          <a:ln/>
        </p:spPr>
        <p:txBody>
          <a:bodyPr wrap="square" lIns="0" tIns="0" rIns="0" bIns="0" rtlCol="0" anchor="ctr"/>
          <a:lstStyle/>
          <a:p>
            <a:pPr marL="0" indent="0">
              <a:buNone/>
            </a:pPr>
            <a:r>
              <a:rPr lang="en-US" sz="900" dirty="0">
                <a:solidFill>
                  <a:srgbClr val="6E828C"/>
                </a:solidFill>
                <a:latin typeface="Calibri" pitchFamily="34" charset="0"/>
                <a:ea typeface="Calibri" pitchFamily="34" charset="-122"/>
                <a:cs typeface="Calibri" pitchFamily="34" charset="-120"/>
              </a:rPr>
              <a:t>each shows the Kafka partition and offset that produced it</a:t>
            </a:r>
            <a:endParaRPr lang="en-US" sz="900" dirty="0"/>
          </a:p>
        </p:txBody>
      </p:sp>
      <p:sp>
        <p:nvSpPr>
          <p:cNvPr id="13" name="Shape 9"/>
          <p:cNvSpPr/>
          <p:nvPr/>
        </p:nvSpPr>
        <p:spPr>
          <a:xfrm>
            <a:off x="7680960" y="4050792"/>
            <a:ext cx="3977640" cy="621792"/>
          </a:xfrm>
          <a:prstGeom prst="roundRect">
            <a:avLst>
              <a:gd name="adj" fmla="val 7353"/>
            </a:avLst>
          </a:prstGeom>
          <a:solidFill>
            <a:srgbClr val="EEF2F3"/>
          </a:solidFill>
          <a:ln w="12700">
            <a:solidFill>
              <a:srgbClr val="E1E7EA"/>
            </a:solidFill>
            <a:prstDash val="solid"/>
          </a:ln>
        </p:spPr>
      </p:sp>
      <p:sp>
        <p:nvSpPr>
          <p:cNvPr id="14" name="Shape 10"/>
          <p:cNvSpPr/>
          <p:nvPr/>
        </p:nvSpPr>
        <p:spPr>
          <a:xfrm>
            <a:off x="7818120" y="4187952"/>
            <a:ext cx="347472" cy="347472"/>
          </a:xfrm>
          <a:prstGeom prst="ellipse">
            <a:avLst/>
          </a:prstGeom>
          <a:solidFill>
            <a:srgbClr val="3E9183"/>
          </a:solidFill>
          <a:ln/>
        </p:spPr>
      </p:sp>
      <p:sp>
        <p:nvSpPr>
          <p:cNvPr id="15" name="Text 11"/>
          <p:cNvSpPr txBox="1"/>
          <p:nvPr/>
        </p:nvSpPr>
        <p:spPr>
          <a:xfrm>
            <a:off x="7818120" y="4187952"/>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2"/>
          <p:cNvSpPr txBox="1"/>
          <p:nvPr/>
        </p:nvSpPr>
        <p:spPr>
          <a:xfrm>
            <a:off x="8275320" y="4105656"/>
            <a:ext cx="3291840" cy="237744"/>
          </a:xfrm>
          <a:prstGeom prst="rect">
            <a:avLst/>
          </a:prstGeom>
          <a:noFill/>
          <a:ln/>
        </p:spPr>
        <p:txBody>
          <a:bodyPr wrap="square" lIns="0" tIns="0" rIns="0" bIns="0" rtlCol="0" anchor="ctr"/>
          <a:lstStyle/>
          <a:p>
            <a:pPr marL="0" indent="0">
              <a:buNone/>
            </a:pPr>
            <a:r>
              <a:rPr lang="en-US" sz="1050" b="1" dirty="0">
                <a:solidFill>
                  <a:srgbClr val="0F2833"/>
                </a:solidFill>
                <a:latin typeface="Calibri" pitchFamily="34" charset="0"/>
                <a:ea typeface="Calibri" pitchFamily="34" charset="-122"/>
                <a:cs typeface="Calibri" pitchFamily="34" charset="-120"/>
              </a:rPr>
              <a:t>Zone drill-down</a:t>
            </a:r>
            <a:endParaRPr lang="en-US" sz="1050" dirty="0"/>
          </a:p>
        </p:txBody>
      </p:sp>
      <p:sp>
        <p:nvSpPr>
          <p:cNvPr id="17" name="Text 13"/>
          <p:cNvSpPr txBox="1"/>
          <p:nvPr/>
        </p:nvSpPr>
        <p:spPr>
          <a:xfrm>
            <a:off x="8275320" y="4325112"/>
            <a:ext cx="3291840" cy="310896"/>
          </a:xfrm>
          <a:prstGeom prst="rect">
            <a:avLst/>
          </a:prstGeom>
          <a:noFill/>
          <a:ln/>
        </p:spPr>
        <p:txBody>
          <a:bodyPr wrap="square" lIns="0" tIns="0" rIns="0" bIns="0" rtlCol="0" anchor="ctr"/>
          <a:lstStyle/>
          <a:p>
            <a:pPr marL="0" indent="0">
              <a:buNone/>
            </a:pPr>
            <a:r>
              <a:rPr lang="en-US" sz="900" dirty="0">
                <a:solidFill>
                  <a:srgbClr val="6E828C"/>
                </a:solidFill>
                <a:latin typeface="Calibri" pitchFamily="34" charset="0"/>
                <a:ea typeface="Calibri" pitchFamily="34" charset="-122"/>
                <a:cs typeface="Calibri" pitchFamily="34" charset="-120"/>
              </a:rPr>
              <a:t>re-scopes operational panels, leaves HDFS insights global</a:t>
            </a:r>
            <a:endParaRPr lang="en-US" sz="900" dirty="0"/>
          </a:p>
        </p:txBody>
      </p:sp>
      <p:sp>
        <p:nvSpPr>
          <p:cNvPr id="18" name="Shape 14"/>
          <p:cNvSpPr/>
          <p:nvPr/>
        </p:nvSpPr>
        <p:spPr>
          <a:xfrm>
            <a:off x="7680960" y="4764024"/>
            <a:ext cx="3977640" cy="621792"/>
          </a:xfrm>
          <a:prstGeom prst="roundRect">
            <a:avLst>
              <a:gd name="adj" fmla="val 7353"/>
            </a:avLst>
          </a:prstGeom>
          <a:solidFill>
            <a:srgbClr val="EEF2F3"/>
          </a:solidFill>
          <a:ln w="12700">
            <a:solidFill>
              <a:srgbClr val="E1E7EA"/>
            </a:solidFill>
            <a:prstDash val="solid"/>
          </a:ln>
        </p:spPr>
      </p:sp>
      <p:sp>
        <p:nvSpPr>
          <p:cNvPr id="19" name="Shape 15"/>
          <p:cNvSpPr/>
          <p:nvPr/>
        </p:nvSpPr>
        <p:spPr>
          <a:xfrm>
            <a:off x="7818120" y="4901184"/>
            <a:ext cx="347472" cy="347472"/>
          </a:xfrm>
          <a:prstGeom prst="ellipse">
            <a:avLst/>
          </a:prstGeom>
          <a:solidFill>
            <a:srgbClr val="C08A1E"/>
          </a:solidFill>
          <a:ln/>
        </p:spPr>
      </p:sp>
      <p:sp>
        <p:nvSpPr>
          <p:cNvPr id="20" name="Text 16"/>
          <p:cNvSpPr txBox="1"/>
          <p:nvPr/>
        </p:nvSpPr>
        <p:spPr>
          <a:xfrm>
            <a:off x="7818120" y="4901184"/>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1" name="Text 17"/>
          <p:cNvSpPr txBox="1"/>
          <p:nvPr/>
        </p:nvSpPr>
        <p:spPr>
          <a:xfrm>
            <a:off x="8275320" y="4818888"/>
            <a:ext cx="3291840" cy="237744"/>
          </a:xfrm>
          <a:prstGeom prst="rect">
            <a:avLst/>
          </a:prstGeom>
          <a:noFill/>
          <a:ln/>
        </p:spPr>
        <p:txBody>
          <a:bodyPr wrap="square" lIns="0" tIns="0" rIns="0" bIns="0" rtlCol="0" anchor="ctr"/>
          <a:lstStyle/>
          <a:p>
            <a:pPr marL="0" indent="0">
              <a:buNone/>
            </a:pPr>
            <a:r>
              <a:rPr lang="en-US" sz="1050" b="1" dirty="0">
                <a:solidFill>
                  <a:srgbClr val="0F2833"/>
                </a:solidFill>
                <a:latin typeface="Calibri" pitchFamily="34" charset="0"/>
                <a:ea typeface="Calibri" pitchFamily="34" charset="-122"/>
                <a:cs typeface="Calibri" pitchFamily="34" charset="-120"/>
              </a:rPr>
              <a:t>Role-based access</a:t>
            </a:r>
            <a:endParaRPr lang="en-US" sz="1050" dirty="0"/>
          </a:p>
        </p:txBody>
      </p:sp>
      <p:sp>
        <p:nvSpPr>
          <p:cNvPr id="22" name="Text 18"/>
          <p:cNvSpPr txBox="1"/>
          <p:nvPr/>
        </p:nvSpPr>
        <p:spPr>
          <a:xfrm>
            <a:off x="8275320" y="5038344"/>
            <a:ext cx="3291840" cy="310896"/>
          </a:xfrm>
          <a:prstGeom prst="rect">
            <a:avLst/>
          </a:prstGeom>
          <a:noFill/>
          <a:ln/>
        </p:spPr>
        <p:txBody>
          <a:bodyPr wrap="square" lIns="0" tIns="0" rIns="0" bIns="0" rtlCol="0" anchor="ctr"/>
          <a:lstStyle/>
          <a:p>
            <a:pPr marL="0" indent="0">
              <a:buNone/>
            </a:pPr>
            <a:r>
              <a:rPr lang="en-US" sz="900" dirty="0">
                <a:solidFill>
                  <a:srgbClr val="6E828C"/>
                </a:solidFill>
                <a:latin typeface="Calibri" pitchFamily="34" charset="0"/>
                <a:ea typeface="Calibri" pitchFamily="34" charset="-122"/>
                <a:cs typeface="Calibri" pitchFamily="34" charset="-120"/>
              </a:rPr>
              <a:t>raw records behind a login; aggregates open</a:t>
            </a:r>
            <a:endParaRPr lang="en-US" sz="900" dirty="0"/>
          </a:p>
        </p:txBody>
      </p:sp>
      <p:sp>
        <p:nvSpPr>
          <p:cNvPr id="23" name="Shape 19"/>
          <p:cNvSpPr/>
          <p:nvPr/>
        </p:nvSpPr>
        <p:spPr>
          <a:xfrm>
            <a:off x="7680960" y="5477256"/>
            <a:ext cx="3977640" cy="621792"/>
          </a:xfrm>
          <a:prstGeom prst="roundRect">
            <a:avLst>
              <a:gd name="adj" fmla="val 7353"/>
            </a:avLst>
          </a:prstGeom>
          <a:solidFill>
            <a:srgbClr val="EEF2F3"/>
          </a:solidFill>
          <a:ln w="12700">
            <a:solidFill>
              <a:srgbClr val="E1E7EA"/>
            </a:solidFill>
            <a:prstDash val="solid"/>
          </a:ln>
        </p:spPr>
      </p:sp>
      <p:sp>
        <p:nvSpPr>
          <p:cNvPr id="24" name="Shape 20"/>
          <p:cNvSpPr/>
          <p:nvPr/>
        </p:nvSpPr>
        <p:spPr>
          <a:xfrm>
            <a:off x="7818120" y="5614416"/>
            <a:ext cx="347472" cy="347472"/>
          </a:xfrm>
          <a:prstGeom prst="ellipse">
            <a:avLst/>
          </a:prstGeom>
          <a:solidFill>
            <a:srgbClr val="7C93A0"/>
          </a:solidFill>
          <a:ln/>
        </p:spPr>
      </p:sp>
      <p:sp>
        <p:nvSpPr>
          <p:cNvPr id="25" name="Text 21"/>
          <p:cNvSpPr txBox="1"/>
          <p:nvPr/>
        </p:nvSpPr>
        <p:spPr>
          <a:xfrm>
            <a:off x="7818120" y="5614416"/>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6" name="Text 22"/>
          <p:cNvSpPr txBox="1"/>
          <p:nvPr/>
        </p:nvSpPr>
        <p:spPr>
          <a:xfrm>
            <a:off x="8275320" y="5532120"/>
            <a:ext cx="3291840" cy="237744"/>
          </a:xfrm>
          <a:prstGeom prst="rect">
            <a:avLst/>
          </a:prstGeom>
          <a:noFill/>
          <a:ln/>
        </p:spPr>
        <p:txBody>
          <a:bodyPr wrap="square" lIns="0" tIns="0" rIns="0" bIns="0" rtlCol="0" anchor="ctr"/>
          <a:lstStyle/>
          <a:p>
            <a:pPr marL="0" indent="0">
              <a:buNone/>
            </a:pPr>
            <a:r>
              <a:rPr lang="en-US" sz="1050" b="1" dirty="0">
                <a:solidFill>
                  <a:srgbClr val="0F2833"/>
                </a:solidFill>
                <a:latin typeface="Calibri" pitchFamily="34" charset="0"/>
                <a:ea typeface="Calibri" pitchFamily="34" charset="-122"/>
                <a:cs typeface="Calibri" pitchFamily="34" charset="-120"/>
              </a:rPr>
              <a:t>Error analysis</a:t>
            </a:r>
            <a:endParaRPr lang="en-US" sz="1050" dirty="0"/>
          </a:p>
        </p:txBody>
      </p:sp>
      <p:sp>
        <p:nvSpPr>
          <p:cNvPr id="27" name="Text 23"/>
          <p:cNvSpPr txBox="1"/>
          <p:nvPr/>
        </p:nvSpPr>
        <p:spPr>
          <a:xfrm>
            <a:off x="8275320" y="5751576"/>
            <a:ext cx="3291840" cy="310896"/>
          </a:xfrm>
          <a:prstGeom prst="rect">
            <a:avLst/>
          </a:prstGeom>
          <a:noFill/>
          <a:ln/>
        </p:spPr>
        <p:txBody>
          <a:bodyPr wrap="square" lIns="0" tIns="0" rIns="0" bIns="0" rtlCol="0" anchor="ctr"/>
          <a:lstStyle/>
          <a:p>
            <a:pPr marL="0" indent="0">
              <a:buNone/>
            </a:pPr>
            <a:r>
              <a:rPr lang="en-US" sz="900" dirty="0">
                <a:solidFill>
                  <a:srgbClr val="6E828C"/>
                </a:solidFill>
                <a:latin typeface="Calibri" pitchFamily="34" charset="0"/>
                <a:ea typeface="Calibri" pitchFamily="34" charset="-122"/>
                <a:cs typeface="Calibri" pitchFamily="34" charset="-120"/>
              </a:rPr>
              <a:t>largest errors and a bucketed distribution, not just successes</a:t>
            </a:r>
            <a:endParaRPr lang="en-US" sz="900" dirty="0"/>
          </a:p>
        </p:txBody>
      </p:sp>
      <p:sp>
        <p:nvSpPr>
          <p:cNvPr id="28" name="Shape 24"/>
          <p:cNvSpPr/>
          <p:nvPr/>
        </p:nvSpPr>
        <p:spPr>
          <a:xfrm>
            <a:off x="502920" y="5029200"/>
            <a:ext cx="6903720" cy="1188720"/>
          </a:xfrm>
          <a:prstGeom prst="roundRect">
            <a:avLst>
              <a:gd name="adj" fmla="val 3846"/>
            </a:avLst>
          </a:prstGeom>
          <a:solidFill>
            <a:srgbClr val="0F2833"/>
          </a:solidFill>
          <a:ln w="12700">
            <a:solidFill>
              <a:srgbClr val="E1E7EA"/>
            </a:solidFill>
            <a:prstDash val="solid"/>
          </a:ln>
        </p:spPr>
      </p:sp>
      <p:sp>
        <p:nvSpPr>
          <p:cNvPr id="29" name="Text 25"/>
          <p:cNvSpPr txBox="1"/>
          <p:nvPr/>
        </p:nvSpPr>
        <p:spPr>
          <a:xfrm>
            <a:off x="777240" y="5157216"/>
            <a:ext cx="6400800" cy="237744"/>
          </a:xfrm>
          <a:prstGeom prst="rect">
            <a:avLst/>
          </a:prstGeom>
          <a:noFill/>
          <a:ln/>
        </p:spPr>
        <p:txBody>
          <a:bodyPr wrap="square" lIns="0" tIns="0" rIns="0" bIns="0" rtlCol="0" anchor="ctr"/>
          <a:lstStyle/>
          <a:p>
            <a:pPr marL="0" indent="0">
              <a:buNone/>
            </a:pPr>
            <a:r>
              <a:rPr lang="en-US" sz="1150" b="1" dirty="0">
                <a:solidFill>
                  <a:srgbClr val="C08A1E"/>
                </a:solidFill>
                <a:latin typeface="Calibri" pitchFamily="34" charset="0"/>
                <a:ea typeface="Calibri" pitchFamily="34" charset="-122"/>
                <a:cs typeface="Calibri" pitchFamily="34" charset="-120"/>
              </a:rPr>
              <a:t>Threshold tuned empirically:</a:t>
            </a:r>
            <a:endParaRPr lang="en-US" sz="1150" dirty="0"/>
          </a:p>
        </p:txBody>
      </p:sp>
      <p:sp>
        <p:nvSpPr>
          <p:cNvPr id="30" name="Text 26"/>
          <p:cNvSpPr txBox="1"/>
          <p:nvPr/>
        </p:nvSpPr>
        <p:spPr>
          <a:xfrm>
            <a:off x="777240" y="5413248"/>
            <a:ext cx="6400800" cy="713232"/>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at 1.5x expected duration, 60% of trips were flagged — gridlock alone is a 2.2x multiplier, so the rule was detecting ordinary congestion. At 3.0x the rate falls to a fraction of a percent, isolating genuine outliers.</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10896"/>
            <a:ext cx="11155680" cy="502920"/>
          </a:xfrm>
          <a:prstGeom prst="rect">
            <a:avLst/>
          </a:prstGeom>
          <a:noFill/>
        </p:spPr>
        <p:txBody>
          <a:bodyPr wrap="square" lIns="0" tIns="0" rIns="0" bIns="0" anchor="t">
            <a:spAutoFit/>
          </a:bodyPr>
          <a:lstStyle/>
          <a:p>
            <a:r>
              <a:rPr sz="2700" b="1" i="0" dirty="0">
                <a:solidFill>
                  <a:srgbClr val="0F2833"/>
                </a:solidFill>
                <a:latin typeface="Cambria"/>
              </a:rPr>
              <a:t>Conclusion</a:t>
            </a:r>
          </a:p>
        </p:txBody>
      </p:sp>
      <p:sp>
        <p:nvSpPr>
          <p:cNvPr id="3" name="TextBox 2"/>
          <p:cNvSpPr txBox="1"/>
          <p:nvPr/>
        </p:nvSpPr>
        <p:spPr>
          <a:xfrm>
            <a:off x="502920" y="822960"/>
            <a:ext cx="11155680" cy="307777"/>
          </a:xfrm>
          <a:prstGeom prst="rect">
            <a:avLst/>
          </a:prstGeom>
          <a:noFill/>
        </p:spPr>
        <p:txBody>
          <a:bodyPr wrap="square" lIns="0" tIns="0" rIns="0" bIns="0" anchor="t">
            <a:spAutoFit/>
          </a:bodyPr>
          <a:lstStyle/>
          <a:p>
            <a:r>
              <a:rPr sz="2000" b="0" i="0" dirty="0">
                <a:solidFill>
                  <a:srgbClr val="6E828C"/>
                </a:solidFill>
                <a:latin typeface="Bookman Old Style" panose="02050604050505020204" pitchFamily="18" charset="0"/>
              </a:rPr>
              <a:t>What the pipeline does, what it found, and what it cost us to learn</a:t>
            </a:r>
          </a:p>
        </p:txBody>
      </p:sp>
      <p:sp>
        <p:nvSpPr>
          <p:cNvPr id="4" name="Rectangle 3"/>
          <p:cNvSpPr/>
          <p:nvPr/>
        </p:nvSpPr>
        <p:spPr>
          <a:xfrm>
            <a:off x="502920" y="1188720"/>
            <a:ext cx="2331720" cy="1188720"/>
          </a:xfrm>
          <a:prstGeom prst="rect">
            <a:avLst/>
          </a:prstGeom>
          <a:solidFill>
            <a:srgbClr val="2A6B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335024"/>
            <a:ext cx="1874519" cy="914400"/>
          </a:xfrm>
          <a:prstGeom prst="rect">
            <a:avLst/>
          </a:prstGeom>
          <a:noFill/>
        </p:spPr>
        <p:txBody>
          <a:bodyPr wrap="square" lIns="0" tIns="0" rIns="0" bIns="0" anchor="t">
            <a:spAutoFit/>
          </a:bodyPr>
          <a:lstStyle/>
          <a:p>
            <a:r>
              <a:rPr sz="2500" b="1" i="0">
                <a:solidFill>
                  <a:srgbClr val="FFFFFF"/>
                </a:solidFill>
                <a:latin typeface="Cambria"/>
              </a:rPr>
              <a:t>2.39M</a:t>
            </a:r>
          </a:p>
          <a:p>
            <a:pPr>
              <a:spcBef>
                <a:spcPts val="500"/>
              </a:spcBef>
            </a:pPr>
            <a:r>
              <a:rPr sz="1050" b="1" i="0">
                <a:solidFill>
                  <a:srgbClr val="FFFFFF"/>
                </a:solidFill>
                <a:latin typeface="Calibri"/>
              </a:rPr>
              <a:t>Trip events end to end</a:t>
            </a:r>
          </a:p>
          <a:p>
            <a:pPr>
              <a:spcBef>
                <a:spcPts val="200"/>
              </a:spcBef>
            </a:pPr>
            <a:r>
              <a:rPr sz="850" b="0" i="0">
                <a:solidFill>
                  <a:srgbClr val="D6E0E2"/>
                </a:solidFill>
                <a:latin typeface="Calibri"/>
              </a:rPr>
              <a:t>through every stage of the pipeline</a:t>
            </a:r>
          </a:p>
        </p:txBody>
      </p:sp>
      <p:sp>
        <p:nvSpPr>
          <p:cNvPr id="6" name="Rectangle 5"/>
          <p:cNvSpPr/>
          <p:nvPr/>
        </p:nvSpPr>
        <p:spPr>
          <a:xfrm>
            <a:off x="2953512" y="1188720"/>
            <a:ext cx="2331720" cy="1188720"/>
          </a:xfrm>
          <a:prstGeom prst="rect">
            <a:avLst/>
          </a:prstGeom>
          <a:solidFill>
            <a:srgbClr val="1630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182112" y="1335024"/>
            <a:ext cx="1874519" cy="914400"/>
          </a:xfrm>
          <a:prstGeom prst="rect">
            <a:avLst/>
          </a:prstGeom>
          <a:noFill/>
        </p:spPr>
        <p:txBody>
          <a:bodyPr wrap="square" lIns="0" tIns="0" rIns="0" bIns="0" anchor="t">
            <a:spAutoFit/>
          </a:bodyPr>
          <a:lstStyle/>
          <a:p>
            <a:r>
              <a:rPr sz="2500" b="1" i="0">
                <a:solidFill>
                  <a:srgbClr val="FFFFFF"/>
                </a:solidFill>
                <a:latin typeface="Cambria"/>
              </a:rPr>
              <a:t>2</a:t>
            </a:r>
          </a:p>
          <a:p>
            <a:pPr>
              <a:spcBef>
                <a:spcPts val="500"/>
              </a:spcBef>
            </a:pPr>
            <a:r>
              <a:rPr sz="1050" b="1" i="0">
                <a:solidFill>
                  <a:srgbClr val="FFFFFF"/>
                </a:solidFill>
                <a:latin typeface="Calibri"/>
              </a:rPr>
              <a:t>Stores fed automatically</a:t>
            </a:r>
          </a:p>
          <a:p>
            <a:pPr>
              <a:spcBef>
                <a:spcPts val="200"/>
              </a:spcBef>
            </a:pPr>
            <a:r>
              <a:rPr sz="850" b="0" i="0">
                <a:solidFill>
                  <a:srgbClr val="D6E0E2"/>
                </a:solidFill>
                <a:latin typeface="Calibri"/>
              </a:rPr>
              <a:t>MariaDB operational  ·  HDFS historical</a:t>
            </a:r>
          </a:p>
        </p:txBody>
      </p:sp>
      <p:sp>
        <p:nvSpPr>
          <p:cNvPr id="8" name="Rectangle 7"/>
          <p:cNvSpPr/>
          <p:nvPr/>
        </p:nvSpPr>
        <p:spPr>
          <a:xfrm>
            <a:off x="5404104" y="1188720"/>
            <a:ext cx="2331720" cy="1188720"/>
          </a:xfrm>
          <a:prstGeom prst="rect">
            <a:avLst/>
          </a:prstGeom>
          <a:solidFill>
            <a:srgbClr val="3E91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32704" y="1335024"/>
            <a:ext cx="1874519" cy="914400"/>
          </a:xfrm>
          <a:prstGeom prst="rect">
            <a:avLst/>
          </a:prstGeom>
          <a:noFill/>
        </p:spPr>
        <p:txBody>
          <a:bodyPr wrap="square" lIns="0" tIns="0" rIns="0" bIns="0" anchor="t">
            <a:spAutoFit/>
          </a:bodyPr>
          <a:lstStyle/>
          <a:p>
            <a:r>
              <a:rPr sz="2500" b="1" i="0">
                <a:solidFill>
                  <a:srgbClr val="FFFFFF"/>
                </a:solidFill>
                <a:latin typeface="Cambria"/>
              </a:rPr>
              <a:t>2.82 min</a:t>
            </a:r>
          </a:p>
          <a:p>
            <a:pPr>
              <a:spcBef>
                <a:spcPts val="500"/>
              </a:spcBef>
            </a:pPr>
            <a:r>
              <a:rPr sz="1050" b="1" i="0">
                <a:solidFill>
                  <a:srgbClr val="FFFFFF"/>
                </a:solidFill>
                <a:latin typeface="Calibri"/>
              </a:rPr>
              <a:t>ETA prediction error</a:t>
            </a:r>
          </a:p>
          <a:p>
            <a:pPr>
              <a:spcBef>
                <a:spcPts val="200"/>
              </a:spcBef>
            </a:pPr>
            <a:r>
              <a:rPr sz="850" b="0" i="0">
                <a:solidFill>
                  <a:srgbClr val="FFFFFF"/>
                </a:solidFill>
                <a:latin typeface="Calibri"/>
              </a:rPr>
              <a:t>against a 1.8 min noise floor</a:t>
            </a:r>
          </a:p>
        </p:txBody>
      </p:sp>
      <p:sp>
        <p:nvSpPr>
          <p:cNvPr id="10" name="Rectangle 9"/>
          <p:cNvSpPr/>
          <p:nvPr/>
        </p:nvSpPr>
        <p:spPr>
          <a:xfrm>
            <a:off x="7854696" y="1188720"/>
            <a:ext cx="3803904" cy="1188720"/>
          </a:xfrm>
          <a:prstGeom prst="rect">
            <a:avLst/>
          </a:prstGeom>
          <a:solidFill>
            <a:srgbClr val="C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083296" y="1335024"/>
            <a:ext cx="3346704" cy="914400"/>
          </a:xfrm>
          <a:prstGeom prst="rect">
            <a:avLst/>
          </a:prstGeom>
          <a:noFill/>
        </p:spPr>
        <p:txBody>
          <a:bodyPr wrap="square" lIns="0" tIns="0" rIns="0" bIns="0" anchor="t">
            <a:spAutoFit/>
          </a:bodyPr>
          <a:lstStyle/>
          <a:p>
            <a:r>
              <a:rPr sz="2500" b="1" i="0" dirty="0">
                <a:solidFill>
                  <a:srgbClr val="FFFFFF"/>
                </a:solidFill>
                <a:latin typeface="Cambria"/>
              </a:rPr>
              <a:t>0</a:t>
            </a:r>
          </a:p>
          <a:p>
            <a:pPr>
              <a:spcBef>
                <a:spcPts val="500"/>
              </a:spcBef>
            </a:pPr>
            <a:r>
              <a:rPr sz="1050" b="1" i="0" dirty="0">
                <a:solidFill>
                  <a:srgbClr val="FFFFFF"/>
                </a:solidFill>
                <a:latin typeface="Calibri"/>
              </a:rPr>
              <a:t>Records lost in three failures</a:t>
            </a:r>
          </a:p>
          <a:p>
            <a:pPr>
              <a:spcBef>
                <a:spcPts val="200"/>
              </a:spcBef>
            </a:pPr>
            <a:r>
              <a:rPr sz="850" b="0" i="0" dirty="0">
                <a:solidFill>
                  <a:srgbClr val="FFFFFF"/>
                </a:solidFill>
                <a:latin typeface="Calibri"/>
              </a:rPr>
              <a:t>Kafka retained everything; consumers replayed from committed offsets</a:t>
            </a:r>
          </a:p>
        </p:txBody>
      </p:sp>
      <p:sp>
        <p:nvSpPr>
          <p:cNvPr id="12" name="TextBox 11"/>
          <p:cNvSpPr txBox="1"/>
          <p:nvPr/>
        </p:nvSpPr>
        <p:spPr>
          <a:xfrm>
            <a:off x="502920" y="2459736"/>
            <a:ext cx="5486400" cy="256032"/>
          </a:xfrm>
          <a:prstGeom prst="rect">
            <a:avLst/>
          </a:prstGeom>
          <a:noFill/>
        </p:spPr>
        <p:txBody>
          <a:bodyPr wrap="square" lIns="0" tIns="0" rIns="0" bIns="0" anchor="t">
            <a:spAutoFit/>
          </a:bodyPr>
          <a:lstStyle/>
          <a:p>
            <a:r>
              <a:rPr sz="1200" b="1" i="0" dirty="0">
                <a:solidFill>
                  <a:srgbClr val="0F2833"/>
                </a:solidFill>
                <a:latin typeface="Calibri"/>
              </a:rPr>
              <a:t>What the system does, in order</a:t>
            </a:r>
          </a:p>
        </p:txBody>
      </p:sp>
      <p:sp>
        <p:nvSpPr>
          <p:cNvPr id="13" name="TextBox 12"/>
          <p:cNvSpPr txBox="1"/>
          <p:nvPr/>
        </p:nvSpPr>
        <p:spPr>
          <a:xfrm>
            <a:off x="502920" y="2746432"/>
            <a:ext cx="5486400" cy="1882567"/>
          </a:xfrm>
          <a:prstGeom prst="rect">
            <a:avLst/>
          </a:prstGeom>
          <a:noFill/>
        </p:spPr>
        <p:txBody>
          <a:bodyPr wrap="square" lIns="0" tIns="0" rIns="0" bIns="0" anchor="t">
            <a:spAutoFit/>
          </a:bodyPr>
          <a:lstStyle/>
          <a:p>
            <a:pPr>
              <a:spcAft>
                <a:spcPts val="700"/>
              </a:spcAft>
            </a:pPr>
            <a:r>
              <a:rPr sz="1100" b="1" i="0" dirty="0">
                <a:solidFill>
                  <a:srgbClr val="2A6B5F"/>
                </a:solidFill>
                <a:latin typeface="Bookman Old Style" panose="02050604050505020204" pitchFamily="18" charset="0"/>
              </a:rPr>
              <a:t>1   </a:t>
            </a:r>
            <a:r>
              <a:rPr sz="1100" b="1" i="0" dirty="0">
                <a:solidFill>
                  <a:srgbClr val="0F2833"/>
                </a:solidFill>
                <a:latin typeface="Bookman Old Style" panose="02050604050505020204" pitchFamily="18" charset="0"/>
              </a:rPr>
              <a:t>Ingests</a:t>
            </a:r>
            <a:r>
              <a:rPr sz="1100" b="0" i="0" dirty="0">
                <a:solidFill>
                  <a:srgbClr val="6E828C"/>
                </a:solidFill>
                <a:latin typeface="Bookman Old Style" panose="02050604050505020204" pitchFamily="18" charset="0"/>
              </a:rPr>
              <a:t> trip events continuously at a rate we can change while it runs.</a:t>
            </a:r>
          </a:p>
          <a:p>
            <a:pPr>
              <a:spcAft>
                <a:spcPts val="700"/>
              </a:spcAft>
            </a:pPr>
            <a:r>
              <a:rPr sz="1100" b="1" i="0" dirty="0">
                <a:solidFill>
                  <a:srgbClr val="2A6B5F"/>
                </a:solidFill>
                <a:latin typeface="Bookman Old Style" panose="02050604050505020204" pitchFamily="18" charset="0"/>
              </a:rPr>
              <a:t>2   </a:t>
            </a:r>
            <a:r>
              <a:rPr sz="1100" b="1" i="0" dirty="0">
                <a:solidFill>
                  <a:srgbClr val="0F2833"/>
                </a:solidFill>
                <a:latin typeface="Bookman Old Style" panose="02050604050505020204" pitchFamily="18" charset="0"/>
              </a:rPr>
              <a:t>Carries</a:t>
            </a:r>
            <a:r>
              <a:rPr sz="1100" b="0" i="0" dirty="0">
                <a:solidFill>
                  <a:srgbClr val="6E828C"/>
                </a:solidFill>
                <a:latin typeface="Bookman Old Style" panose="02050604050505020204" pitchFamily="18" charset="0"/>
              </a:rPr>
              <a:t> them through Kafka, keyed by driver so ordering holds where the domain needs it, with offsets committed by hand.</a:t>
            </a:r>
          </a:p>
          <a:p>
            <a:pPr>
              <a:spcAft>
                <a:spcPts val="700"/>
              </a:spcAft>
            </a:pPr>
            <a:r>
              <a:rPr sz="1100" b="1" i="0" dirty="0">
                <a:solidFill>
                  <a:srgbClr val="2A6B5F"/>
                </a:solidFill>
                <a:latin typeface="Bookman Old Style" panose="02050604050505020204" pitchFamily="18" charset="0"/>
              </a:rPr>
              <a:t>3   </a:t>
            </a:r>
            <a:r>
              <a:rPr sz="1100" b="1" i="0" dirty="0">
                <a:solidFill>
                  <a:srgbClr val="0F2833"/>
                </a:solidFill>
                <a:latin typeface="Bookman Old Style" panose="02050604050505020204" pitchFamily="18" charset="0"/>
              </a:rPr>
              <a:t>Lands</a:t>
            </a:r>
            <a:r>
              <a:rPr sz="1100" b="0" i="0" dirty="0">
                <a:solidFill>
                  <a:srgbClr val="6E828C"/>
                </a:solidFill>
                <a:latin typeface="Bookman Old Style" panose="02050604050505020204" pitchFamily="18" charset="0"/>
              </a:rPr>
              <a:t> them automatically in two stores </a:t>
            </a:r>
            <a:r>
              <a:rPr sz="1100" b="0" i="0" dirty="0" smtClean="0">
                <a:solidFill>
                  <a:srgbClr val="6E828C"/>
                </a:solidFill>
                <a:latin typeface="Bookman Old Style" panose="02050604050505020204" pitchFamily="18" charset="0"/>
              </a:rPr>
              <a:t> </a:t>
            </a:r>
            <a:r>
              <a:rPr sz="1100" b="0" i="0" dirty="0">
                <a:solidFill>
                  <a:srgbClr val="6E828C"/>
                </a:solidFill>
                <a:latin typeface="Bookman Old Style" panose="02050604050505020204" pitchFamily="18" charset="0"/>
              </a:rPr>
              <a:t>one indexed for what is true now, one replicated and columnar for what happened.</a:t>
            </a:r>
          </a:p>
          <a:p>
            <a:pPr>
              <a:spcAft>
                <a:spcPts val="700"/>
              </a:spcAft>
            </a:pPr>
            <a:r>
              <a:rPr sz="1100" b="1" i="0" dirty="0">
                <a:solidFill>
                  <a:srgbClr val="2A6B5F"/>
                </a:solidFill>
                <a:latin typeface="Bookman Old Style" panose="02050604050505020204" pitchFamily="18" charset="0"/>
              </a:rPr>
              <a:t>4   </a:t>
            </a:r>
            <a:r>
              <a:rPr sz="1100" b="1" i="0" dirty="0">
                <a:solidFill>
                  <a:srgbClr val="0F2833"/>
                </a:solidFill>
                <a:latin typeface="Bookman Old Style" panose="02050604050505020204" pitchFamily="18" charset="0"/>
              </a:rPr>
              <a:t>Processes</a:t>
            </a:r>
            <a:r>
              <a:rPr sz="1100" b="0" i="0" dirty="0">
                <a:solidFill>
                  <a:srgbClr val="6E828C"/>
                </a:solidFill>
                <a:latin typeface="Bookman Old Style" panose="02050604050505020204" pitchFamily="18" charset="0"/>
              </a:rPr>
              <a:t> the full history at scale with PySpark, then trains a Spark MLlib model and redeploys it from HDFS to score unseen trips.</a:t>
            </a:r>
          </a:p>
          <a:p>
            <a:pPr>
              <a:spcAft>
                <a:spcPts val="700"/>
              </a:spcAft>
            </a:pPr>
            <a:r>
              <a:rPr sz="1100" b="1" i="0" dirty="0">
                <a:solidFill>
                  <a:srgbClr val="2A6B5F"/>
                </a:solidFill>
                <a:latin typeface="Bookman Old Style" panose="02050604050505020204" pitchFamily="18" charset="0"/>
              </a:rPr>
              <a:t>5   </a:t>
            </a:r>
            <a:r>
              <a:rPr sz="1100" b="1" i="0" dirty="0">
                <a:solidFill>
                  <a:srgbClr val="0F2833"/>
                </a:solidFill>
                <a:latin typeface="Bookman Old Style" panose="02050604050505020204" pitchFamily="18" charset="0"/>
              </a:rPr>
              <a:t>Surfaces</a:t>
            </a:r>
            <a:r>
              <a:rPr sz="1100" b="0" i="0" dirty="0">
                <a:solidFill>
                  <a:srgbClr val="6E828C"/>
                </a:solidFill>
                <a:latin typeface="Bookman Old Style" panose="02050604050505020204" pitchFamily="18" charset="0"/>
              </a:rPr>
              <a:t> all of it on a live Django dispatch board with seven charts recomputed on every request.</a:t>
            </a:r>
          </a:p>
        </p:txBody>
      </p:sp>
      <p:sp>
        <p:nvSpPr>
          <p:cNvPr id="14" name="TextBox 13"/>
          <p:cNvSpPr txBox="1"/>
          <p:nvPr/>
        </p:nvSpPr>
        <p:spPr>
          <a:xfrm>
            <a:off x="6400800" y="2670048"/>
            <a:ext cx="5257800" cy="215444"/>
          </a:xfrm>
          <a:prstGeom prst="rect">
            <a:avLst/>
          </a:prstGeom>
          <a:noFill/>
        </p:spPr>
        <p:txBody>
          <a:bodyPr wrap="square" lIns="0" tIns="0" rIns="0" bIns="0" anchor="t">
            <a:spAutoFit/>
          </a:bodyPr>
          <a:lstStyle/>
          <a:p>
            <a:r>
              <a:rPr sz="1400" b="1" i="0" dirty="0">
                <a:solidFill>
                  <a:srgbClr val="0F2833"/>
                </a:solidFill>
                <a:latin typeface="Bookman Old Style" panose="02050604050505020204" pitchFamily="18" charset="0"/>
              </a:rPr>
              <a:t>Three findings worth carrying away</a:t>
            </a:r>
          </a:p>
        </p:txBody>
      </p:sp>
      <p:sp>
        <p:nvSpPr>
          <p:cNvPr id="15" name="TextBox 14"/>
          <p:cNvSpPr txBox="1"/>
          <p:nvPr/>
        </p:nvSpPr>
        <p:spPr>
          <a:xfrm>
            <a:off x="6400800" y="2999232"/>
            <a:ext cx="5257800" cy="1754326"/>
          </a:xfrm>
          <a:prstGeom prst="rect">
            <a:avLst/>
          </a:prstGeom>
          <a:noFill/>
        </p:spPr>
        <p:txBody>
          <a:bodyPr wrap="square" lIns="0" tIns="0" rIns="0" bIns="0" anchor="t">
            <a:spAutoFit/>
          </a:bodyPr>
          <a:lstStyle/>
          <a:p>
            <a:pPr marL="171450" indent="-171450">
              <a:spcAft>
                <a:spcPts val="900"/>
              </a:spcAft>
              <a:buFont typeface="Wingdings" panose="05000000000000000000" pitchFamily="2" charset="2"/>
              <a:buChar char="§"/>
            </a:pPr>
            <a:r>
              <a:rPr sz="1100" b="1" i="0" dirty="0" smtClean="0">
                <a:solidFill>
                  <a:srgbClr val="2A6B5F"/>
                </a:solidFill>
                <a:latin typeface="Bookman Old Style" panose="02050604050505020204" pitchFamily="18" charset="0"/>
              </a:rPr>
              <a:t>Congestion more than doubles pace.</a:t>
            </a:r>
            <a:r>
              <a:rPr sz="1100" b="0" i="0" dirty="0" smtClean="0">
                <a:solidFill>
                  <a:srgbClr val="6E828C"/>
                </a:solidFill>
                <a:latin typeface="Bookman Old Style" panose="02050604050505020204" pitchFamily="18" charset="0"/>
              </a:rPr>
              <a:t> 2.346 min/km in light traffic against 5.146 in gridlock monotonic, and stable as the dataset grew twenty-fold.</a:t>
            </a:r>
          </a:p>
          <a:p>
            <a:pPr marL="171450" indent="-171450">
              <a:spcAft>
                <a:spcPts val="900"/>
              </a:spcAft>
              <a:buFont typeface="Wingdings" panose="05000000000000000000" pitchFamily="2" charset="2"/>
              <a:buChar char="§"/>
            </a:pPr>
            <a:r>
              <a:rPr sz="1100" b="1" i="0" dirty="0" smtClean="0">
                <a:solidFill>
                  <a:srgbClr val="C08A1E"/>
                </a:solidFill>
                <a:latin typeface="Bookman Old Style" panose="02050604050505020204" pitchFamily="18" charset="0"/>
              </a:rPr>
              <a:t>Boosting beat a linear baseline by 67.8%.</a:t>
            </a:r>
            <a:r>
              <a:rPr sz="1100" b="0" i="0" dirty="0" smtClean="0">
                <a:solidFill>
                  <a:srgbClr val="6E828C"/>
                </a:solidFill>
                <a:latin typeface="Bookman Old Style" panose="02050604050505020204" pitchFamily="18" charset="0"/>
              </a:rPr>
              <a:t> Traffic and weather scale travel time rather than adding to it, and trees capture that interaction where an additive model cannot.</a:t>
            </a:r>
          </a:p>
          <a:p>
            <a:pPr marL="171450" indent="-171450">
              <a:spcAft>
                <a:spcPts val="900"/>
              </a:spcAft>
              <a:buFont typeface="Wingdings" panose="05000000000000000000" pitchFamily="2" charset="2"/>
              <a:buChar char="§"/>
            </a:pPr>
            <a:r>
              <a:rPr sz="1100" b="1" i="0" dirty="0" smtClean="0">
                <a:solidFill>
                  <a:srgbClr val="B0472F"/>
                </a:solidFill>
                <a:latin typeface="Bookman Old Style" panose="02050604050505020204" pitchFamily="18" charset="0"/>
              </a:rPr>
              <a:t>The accuracy sits against a floor we built in.</a:t>
            </a:r>
            <a:r>
              <a:rPr sz="1100" b="0" i="0" dirty="0" smtClean="0">
                <a:solidFill>
                  <a:srgbClr val="6E828C"/>
                </a:solidFill>
                <a:latin typeface="Bookman Old Style" panose="02050604050505020204" pitchFamily="18" charset="0"/>
              </a:rPr>
              <a:t> Noise of 1.8 minutes per trip is irreducible </a:t>
            </a:r>
            <a:r>
              <a:rPr lang="en-US" sz="1100" b="0" i="0" dirty="0" smtClean="0">
                <a:solidFill>
                  <a:srgbClr val="6E828C"/>
                </a:solidFill>
                <a:latin typeface="Bookman Old Style" panose="02050604050505020204" pitchFamily="18" charset="0"/>
              </a:rPr>
              <a:t> </a:t>
            </a:r>
            <a:r>
              <a:rPr sz="1100" b="0" i="0" dirty="0" smtClean="0">
                <a:solidFill>
                  <a:srgbClr val="6E828C"/>
                </a:solidFill>
                <a:latin typeface="Bookman Old Style" panose="02050604050505020204" pitchFamily="18" charset="0"/>
              </a:rPr>
              <a:t>which is the only reason we can call 2.82 good rather than merely low.</a:t>
            </a:r>
            <a:endParaRPr sz="1100" b="0" i="0" dirty="0">
              <a:solidFill>
                <a:srgbClr val="6E828C"/>
              </a:solidFill>
              <a:latin typeface="Bookman Old Style" panose="02050604050505020204" pitchFamily="18" charset="0"/>
            </a:endParaRPr>
          </a:p>
        </p:txBody>
      </p:sp>
      <p:sp>
        <p:nvSpPr>
          <p:cNvPr id="16" name="TextBox 15"/>
          <p:cNvSpPr txBox="1"/>
          <p:nvPr/>
        </p:nvSpPr>
        <p:spPr>
          <a:xfrm>
            <a:off x="502920" y="4773168"/>
            <a:ext cx="11155680" cy="369332"/>
          </a:xfrm>
          <a:prstGeom prst="rect">
            <a:avLst/>
          </a:prstGeom>
          <a:noFill/>
        </p:spPr>
        <p:txBody>
          <a:bodyPr wrap="square" lIns="0" tIns="0" rIns="0" bIns="0" anchor="t">
            <a:spAutoFit/>
          </a:bodyPr>
          <a:lstStyle/>
          <a:p>
            <a:r>
              <a:rPr sz="1200" b="1" i="0" dirty="0">
                <a:solidFill>
                  <a:srgbClr val="0F2833"/>
                </a:solidFill>
                <a:latin typeface="Bookman Old Style" panose="02050604050505020204" pitchFamily="18" charset="0"/>
              </a:rPr>
              <a:t>Stated limitations   </a:t>
            </a:r>
            <a:r>
              <a:rPr sz="1200" b="0" i="0" dirty="0">
                <a:solidFill>
                  <a:srgbClr val="6E828C"/>
                </a:solidFill>
                <a:latin typeface="Bookman Old Style" panose="02050604050505020204" pitchFamily="18" charset="0"/>
              </a:rPr>
              <a:t>single broker at replication factor 1  ·  one DataNode, so blocks are under-replicated  ·  small files by design for the demo  ·  training on a 20% sample  ·  synthetic data, so the pipeline is real but the domain conclusions are only as real as the generator</a:t>
            </a:r>
          </a:p>
        </p:txBody>
      </p:sp>
      <p:sp>
        <p:nvSpPr>
          <p:cNvPr id="17" name="Rectangle 16"/>
          <p:cNvSpPr/>
          <p:nvPr/>
        </p:nvSpPr>
        <p:spPr>
          <a:xfrm>
            <a:off x="535718" y="5281220"/>
            <a:ext cx="10715377" cy="1143000"/>
          </a:xfrm>
          <a:prstGeom prst="rect">
            <a:avLst/>
          </a:prstGeom>
          <a:solidFill>
            <a:srgbClr val="0F28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 y="5646980"/>
            <a:ext cx="9827812" cy="553998"/>
          </a:xfrm>
          <a:prstGeom prst="rect">
            <a:avLst/>
          </a:prstGeom>
          <a:noFill/>
        </p:spPr>
        <p:txBody>
          <a:bodyPr wrap="square" lIns="0" tIns="0" rIns="0" bIns="0" anchor="t">
            <a:spAutoFit/>
          </a:bodyPr>
          <a:lstStyle/>
          <a:p>
            <a:r>
              <a:rPr sz="1200" b="0" i="1" dirty="0">
                <a:solidFill>
                  <a:srgbClr val="D6E0E2"/>
                </a:solidFill>
                <a:latin typeface="Bookman Old Style" panose="02050604050505020204" pitchFamily="18" charset="0"/>
              </a:rPr>
              <a:t>The most instructive parts of this project were not components. Three separate failures </a:t>
            </a:r>
            <a:r>
              <a:rPr sz="1200" b="0" i="1" dirty="0" smtClean="0">
                <a:solidFill>
                  <a:srgbClr val="D6E0E2"/>
                </a:solidFill>
                <a:latin typeface="Bookman Old Style" panose="02050604050505020204" pitchFamily="18" charset="0"/>
              </a:rPr>
              <a:t> </a:t>
            </a:r>
            <a:r>
              <a:rPr sz="1200" b="0" i="1" dirty="0">
                <a:solidFill>
                  <a:srgbClr val="D6E0E2"/>
                </a:solidFill>
                <a:latin typeface="Bookman Old Style" panose="02050604050505020204" pitchFamily="18" charset="0"/>
              </a:rPr>
              <a:t>a database outage, an unclosed HDFS lease, and the complete loss of the operational store </a:t>
            </a:r>
            <a:r>
              <a:rPr sz="1200" b="0" i="1" dirty="0" smtClean="0">
                <a:solidFill>
                  <a:srgbClr val="D6E0E2"/>
                </a:solidFill>
                <a:latin typeface="Bookman Old Style" panose="02050604050505020204" pitchFamily="18" charset="0"/>
              </a:rPr>
              <a:t> </a:t>
            </a:r>
            <a:r>
              <a:rPr sz="1200" b="0" i="1" dirty="0">
                <a:solidFill>
                  <a:srgbClr val="D6E0E2"/>
                </a:solidFill>
                <a:latin typeface="Bookman Old Style" panose="02050604050505020204" pitchFamily="18" charset="0"/>
              </a:rPr>
              <a:t>were each survived without data loss, because Kafka retained everything. And one bug produced a plausible-looking chart that was entirely wrong: finding it meant doubting our own output.</a:t>
            </a:r>
          </a:p>
        </p:txBody>
      </p:sp>
    </p:spTree>
    <p:extLst>
      <p:ext uri="{BB962C8B-B14F-4D97-AF65-F5344CB8AC3E}">
        <p14:creationId xmlns:p14="http://schemas.microsoft.com/office/powerpoint/2010/main" val="33402788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505</TotalTime>
  <Words>2607</Words>
  <Application>Microsoft Office PowerPoint</Application>
  <PresentationFormat>Widescreen</PresentationFormat>
  <Paragraphs>254</Paragraphs>
  <Slides>12</Slides>
  <Notes>12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vt:lpstr>
      <vt:lpstr>Bookman Old Style</vt:lpstr>
      <vt:lpstr>Calibri</vt:lpstr>
      <vt:lpstr>Cambria</vt:lpstr>
      <vt:lpstr>Courier New</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RwandaRide - Real-Time Ride-Hailing Pipeline &amp; ETA Prediction</dc:title>
  <dc:subject>PptxGenJS Presentation</dc:subject>
  <dc:creator>Niyonshuti, Uwimpuhwe, Uwibereyeho</dc:creator>
  <cp:lastModifiedBy>Kim</cp:lastModifiedBy>
  <cp:revision>18</cp:revision>
  <dcterms:created xsi:type="dcterms:W3CDTF">2026-09-18T12:11:50Z</dcterms:created>
  <dcterms:modified xsi:type="dcterms:W3CDTF">2026-09-20T10:12:27Z</dcterms:modified>
</cp:coreProperties>
</file>